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Somos el Grupo 06 — Davel Reymundo, Humberto Lizana y Dante Tarraga. El proyecto que vamos a presentar hoy se llama Chat WebSocket. Es una aplicación de chat en tiempo real construida con el propósito de demostrar cómo funcionan los WebSockets en un entorno fullstack real usando NestJS en el backend y React con Vite en el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está formado por tres integrantes. Davel Reymundo se encargó del backend y el Gateway de WebSockets con NestJS. Humberto Lizana diseñó la arquitectura general e implementó el ChatService con estado en memoria. Dante Tarraga desarrolló el frontend con React, el patrón useEffect con socket.on/off y los estilos.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WebSocket es un proyecto educativo de chat en tiempo real. El backend corre en NestJS en el puerto 3000 y el frontend en React con Vite en el puerto 5173. Toda la comunicación es por WebSockets usando Socket.IO. La diferencia clave con HTTP: con WebSockets la conexión es persistente y bidireccional — el servidor puede enviar mensajes a los clientes sin que estos los pidan. Eso es fundamental en un chat: cuando alguien envía un mensaje, todos deben recibirlo inmediatamente.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es un monorepo con dos aplicaciones: el backend NestJS en el puerto 3000 y el frontend React+Vite en el puerto 5173. Toda la comunicación entre ambos se realiza exclusivamente por WebSockets usando Socket.IO. No hay base de datos — el estado vive en arrays en memoria del servidor. En el backend, el módulo Chat encapsula el Gateway, el Service, los DTOs y las interfaces. En el frontend, el Singleton de Socket.IO en socket.ts se comparte entre Login y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stack tiene dos partes claramente separadas. Backend: NestJS 11 como framework modular, Socket.IO 4.8 para WebSockets, TypeScript 5.7 con decoradores y RxJS para programación reactiva. Frontend: React 19 con hooks, Vite 8.1 como bundler ultrarrápido, el cliente de Socket.IO 4.8 y CSS vanilla con Flexbox. Un detalle importante: las versiones de Socket.IO en cliente y servidor deben coincidir para que el protocolo funcione correctamente.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ChatGateway es el núcleo del backend. Usa decoradores de NestJS en lugar de controladores HTTP. @WebSocketGateway declara la clase como servidor de WebSockets y configura CORS para el origen del frontend. @WebSocketServer inyecta la instancia del servidor Socket.IO para poder hacer server.emit(). @SubscribeMessage reemplaza @Get() o @Post() — en lugar de rutas HTTP, escucha nombres de eventos WebSocket. Las interfaces OnGatewayConnection y OnGatewayDisconnect permiten ejecutar código automáticamente cuando alguien se conecta o cierra el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ChatService contiene toda la lógica de negocio y el estado. El estado vive en dos arrays en memoria: uno de usuarios activos y uno de mensajes. Expone cinco métodos: addUser y removeUser para gestionar conexiones, getUsers para listar activos, y addMessage y getMessages para el historial. Los DTOs definen la forma de los datos que entran desde el cliente. Las interfaces definen la forma de los datos que se guardan internamente. Esta separación hace el código predecible y fácil de tipar con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patrón más didáctico del frontend. En useEffect con array vacío [], suscribimos los listeners de Socket.IO una sola vez al montar el componente. socket.on('newMessage') registra el callback que actualiza el estado con el nuevo mensaje. El return de useEffect es la función de cleanup — cuando el componente se desmonta, socket.off() elimina los listeners. Sin esto, cada remontaje del componente duplicaría los listeners y los mensajes se procesarían varias veces. Para el estado usamos el patrón funcional de setState con spread operator para no mutar el array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completo tiene tres escenarios. Al entrar: el browser carga React y socket.ts crea la conexión WebSocket. El usuario escribe su nombre y se emite el evento join. El backend agrega el usuario y notifica a todos con server.emit. Al enviar mensaje: el cliente emite sendMessage, el backend lo guarda y hace broadcast a todos con newMessage. Al desconectarse: Socket.IO detecta automáticamente el timeout, se elimina el usuario del array y se notifica a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tiene limitaciones intencionales pensadas para mantenerlo simple y didáctico. El estado en memoria se pierde al reiniciar — en producción usaríamos PostgreSQL o Redis. Las URLs están hardcodeadas en lugar de usar variables de entorno. No hay autenticación real, validación robusta, historial al reconectar, ni salas separadas. Cada una de estas limitaciones es una extensión posible: TypeORM para persistencia, socket.join() para salas, JWT en el handshake, class-validator para validación, y socket.to(socketId).emit() para mensajes privados.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cuatro ideas clave. Los WebSockets permiten comunicación bidireccional persistente — el servidor notifica al instante sin polling. NestJS estructura el backend con decoradores igual que en REST, pero para eventos WebSocket. El patrón useEffect + socket.on + cleanup en el return es la forma correcta de escuchar eventos en React. Y el Singleton en socket.ts garantiza que solo haya una conexión activa compartida entre todos los componentes. Eso es todo de nuestra parte — quedamos abiertos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0F"/>
        </a:solidFill>
      </p:bgPr>
    </p:bg>
    <p:spTree>
      <p:nvGrpSpPr>
        <p:cNvPr id="1" name=""/>
        <p:cNvGrpSpPr/>
        <p:nvPr/>
      </p:nvGrpSpPr>
      <p:grpSpPr>
        <a:xfrm>
          <a:off x="0" y="0"/>
          <a:ext cx="0" cy="0"/>
          <a:chOff x="0" y="0"/>
          <a:chExt cx="0" cy="0"/>
        </a:xfrm>
      </p:grpSpPr>
      <p:sp>
        <p:nvSpPr>
          <p:cNvPr id="2" name="Shape 0"/>
          <p:cNvSpPr/>
          <p:nvPr/>
        </p:nvSpPr>
        <p:spPr>
          <a:xfrm>
            <a:off x="365760" y="256032"/>
            <a:ext cx="164592" cy="164592"/>
          </a:xfrm>
          <a:prstGeom prst="ellipse">
            <a:avLst/>
          </a:prstGeom>
          <a:solidFill>
            <a:srgbClr val="00D4AA"/>
          </a:solidFill>
          <a:ln w="12700">
            <a:solidFill>
              <a:srgbClr val="00D4AA"/>
            </a:solidFill>
            <a:prstDash val="solid"/>
          </a:ln>
        </p:spPr>
      </p:sp>
      <p:sp>
        <p:nvSpPr>
          <p:cNvPr id="3" name="Shape 1"/>
          <p:cNvSpPr/>
          <p:nvPr/>
        </p:nvSpPr>
        <p:spPr>
          <a:xfrm>
            <a:off x="713232" y="256032"/>
            <a:ext cx="164592" cy="164592"/>
          </a:xfrm>
          <a:prstGeom prst="ellipse">
            <a:avLst/>
          </a:prstGeom>
          <a:solidFill>
            <a:srgbClr val="4A9FD4"/>
          </a:solidFill>
          <a:ln w="12700">
            <a:solidFill>
              <a:srgbClr val="4A9FD4"/>
            </a:solidFill>
            <a:prstDash val="solid"/>
          </a:ln>
        </p:spPr>
      </p:sp>
      <p:sp>
        <p:nvSpPr>
          <p:cNvPr id="4" name="Shape 2"/>
          <p:cNvSpPr/>
          <p:nvPr/>
        </p:nvSpPr>
        <p:spPr>
          <a:xfrm>
            <a:off x="1060704" y="256032"/>
            <a:ext cx="164592" cy="164592"/>
          </a:xfrm>
          <a:prstGeom prst="ellipse">
            <a:avLst/>
          </a:prstGeom>
          <a:solidFill>
            <a:srgbClr val="FF6B6B"/>
          </a:solidFill>
          <a:ln w="12700">
            <a:solidFill>
              <a:srgbClr val="FF6B6B"/>
            </a:solidFill>
            <a:prstDash val="solid"/>
          </a:ln>
        </p:spPr>
      </p:sp>
      <p:sp>
        <p:nvSpPr>
          <p:cNvPr id="5" name="Shape 3"/>
          <p:cNvSpPr/>
          <p:nvPr/>
        </p:nvSpPr>
        <p:spPr>
          <a:xfrm>
            <a:off x="1408176" y="256032"/>
            <a:ext cx="164592" cy="164592"/>
          </a:xfrm>
          <a:prstGeom prst="ellipse">
            <a:avLst/>
          </a:prstGeom>
          <a:solidFill>
            <a:srgbClr val="FFD166"/>
          </a:solidFill>
          <a:ln w="12700">
            <a:solidFill>
              <a:srgbClr val="FFD166"/>
            </a:solidFill>
            <a:prstDash val="solid"/>
          </a:ln>
        </p:spPr>
      </p:sp>
      <p:sp>
        <p:nvSpPr>
          <p:cNvPr id="6" name="Shape 4"/>
          <p:cNvSpPr/>
          <p:nvPr/>
        </p:nvSpPr>
        <p:spPr>
          <a:xfrm>
            <a:off x="1755648" y="256032"/>
            <a:ext cx="164592" cy="164592"/>
          </a:xfrm>
          <a:prstGeom prst="ellipse">
            <a:avLst/>
          </a:prstGeom>
          <a:solidFill>
            <a:srgbClr val="9B72CF"/>
          </a:solidFill>
          <a:ln w="12700">
            <a:solidFill>
              <a:srgbClr val="9B72CF"/>
            </a:solidFill>
            <a:prstDash val="solid"/>
          </a:ln>
        </p:spPr>
      </p:sp>
      <p:sp>
        <p:nvSpPr>
          <p:cNvPr id="7" name="Shape 5"/>
          <p:cNvSpPr/>
          <p:nvPr/>
        </p:nvSpPr>
        <p:spPr>
          <a:xfrm>
            <a:off x="7772400" y="822960"/>
            <a:ext cx="228600" cy="228600"/>
          </a:xfrm>
          <a:prstGeom prst="ellipse">
            <a:avLst/>
          </a:prstGeom>
          <a:solidFill>
            <a:srgbClr val="06D6A0"/>
          </a:solidFill>
          <a:ln w="12700">
            <a:solidFill>
              <a:srgbClr val="06D6A0"/>
            </a:solidFill>
            <a:prstDash val="solid"/>
          </a:ln>
        </p:spPr>
      </p:sp>
      <p:sp>
        <p:nvSpPr>
          <p:cNvPr id="8" name="Text 6"/>
          <p:cNvSpPr/>
          <p:nvPr/>
        </p:nvSpPr>
        <p:spPr>
          <a:xfrm>
            <a:off x="8028432" y="841248"/>
            <a:ext cx="822960" cy="201168"/>
          </a:xfrm>
          <a:prstGeom prst="rect">
            <a:avLst/>
          </a:prstGeom>
          <a:noFill/>
          <a:ln/>
        </p:spPr>
        <p:txBody>
          <a:bodyPr wrap="square" lIns="0" tIns="0" rIns="0" bIns="0" rtlCol="0" anchor="ctr"/>
          <a:lstStyle/>
          <a:p>
            <a:pPr indent="0" marL="0">
              <a:buNone/>
            </a:pPr>
            <a:r>
              <a:rPr lang="en-US" sz="1000" b="1" dirty="0">
                <a:solidFill>
                  <a:srgbClr val="06D6A0"/>
                </a:solidFill>
                <a:latin typeface="Calibri" pitchFamily="34" charset="0"/>
                <a:ea typeface="Calibri" pitchFamily="34" charset="-122"/>
                <a:cs typeface="Calibri" pitchFamily="34" charset="-120"/>
              </a:rPr>
              <a:t>● LIVE</a:t>
            </a:r>
            <a:endParaRPr lang="en-US" sz="1000" dirty="0"/>
          </a:p>
        </p:txBody>
      </p:sp>
      <p:sp>
        <p:nvSpPr>
          <p:cNvPr id="9" name="Text 7"/>
          <p:cNvSpPr/>
          <p:nvPr/>
        </p:nvSpPr>
        <p:spPr>
          <a:xfrm>
            <a:off x="457200" y="731520"/>
            <a:ext cx="8229600" cy="1051560"/>
          </a:xfrm>
          <a:prstGeom prst="rect">
            <a:avLst/>
          </a:prstGeom>
          <a:noFill/>
          <a:ln/>
        </p:spPr>
        <p:txBody>
          <a:bodyPr wrap="square" lIns="0" tIns="0" rIns="0" bIns="0" rtlCol="0" anchor="ctr"/>
          <a:lstStyle/>
          <a:p>
            <a:pPr algn="ctr" indent="0" marL="0">
              <a:buNone/>
            </a:pPr>
            <a:r>
              <a:rPr lang="en-US" sz="4600" b="1" dirty="0">
                <a:solidFill>
                  <a:srgbClr val="E2F0EF"/>
                </a:solidFill>
                <a:latin typeface="Cambria" pitchFamily="34" charset="0"/>
                <a:ea typeface="Cambria" pitchFamily="34" charset="-122"/>
                <a:cs typeface="Cambria" pitchFamily="34" charset="-120"/>
              </a:rPr>
              <a:t>Chat WebSocket</a:t>
            </a:r>
            <a:endParaRPr lang="en-US" sz="4600" dirty="0"/>
          </a:p>
        </p:txBody>
      </p:sp>
      <p:sp>
        <p:nvSpPr>
          <p:cNvPr id="10" name="Text 8"/>
          <p:cNvSpPr/>
          <p:nvPr/>
        </p:nvSpPr>
        <p:spPr>
          <a:xfrm>
            <a:off x="457200" y="1828800"/>
            <a:ext cx="8229600" cy="438912"/>
          </a:xfrm>
          <a:prstGeom prst="rect">
            <a:avLst/>
          </a:prstGeom>
          <a:noFill/>
          <a:ln/>
        </p:spPr>
        <p:txBody>
          <a:bodyPr wrap="square" lIns="0" tIns="0" rIns="0" bIns="0" rtlCol="0" anchor="ctr"/>
          <a:lstStyle/>
          <a:p>
            <a:pPr algn="ctr" indent="0" marL="0">
              <a:buNone/>
            </a:pPr>
            <a:r>
              <a:rPr lang="en-US" sz="1700" b="1" dirty="0">
                <a:solidFill>
                  <a:srgbClr val="00D4AA"/>
                </a:solidFill>
                <a:latin typeface="Calibri" pitchFamily="34" charset="0"/>
                <a:ea typeface="Calibri" pitchFamily="34" charset="-122"/>
                <a:cs typeface="Calibri" pitchFamily="34" charset="-120"/>
              </a:rPr>
              <a:t>Comunicación en Tiempo Real con WebSockets</a:t>
            </a:r>
            <a:endParaRPr lang="en-US" sz="1700" dirty="0"/>
          </a:p>
        </p:txBody>
      </p:sp>
      <p:sp>
        <p:nvSpPr>
          <p:cNvPr id="11" name="Text 9"/>
          <p:cNvSpPr/>
          <p:nvPr/>
        </p:nvSpPr>
        <p:spPr>
          <a:xfrm>
            <a:off x="457200" y="2304288"/>
            <a:ext cx="8229600" cy="292608"/>
          </a:xfrm>
          <a:prstGeom prst="rect">
            <a:avLst/>
          </a:prstGeom>
          <a:noFill/>
          <a:ln/>
        </p:spPr>
        <p:txBody>
          <a:bodyPr wrap="square" lIns="0" tIns="0" rIns="0" bIns="0" rtlCol="0" anchor="ctr"/>
          <a:lstStyle/>
          <a:p>
            <a:pPr algn="ctr" indent="0" marL="0">
              <a:buNone/>
            </a:pPr>
            <a:r>
              <a:rPr lang="en-US" sz="1150" dirty="0">
                <a:solidFill>
                  <a:srgbClr val="7A9E9C"/>
                </a:solidFill>
                <a:latin typeface="Calibri" pitchFamily="34" charset="0"/>
                <a:ea typeface="Calibri" pitchFamily="34" charset="-122"/>
                <a:cs typeface="Calibri" pitchFamily="34" charset="-120"/>
              </a:rPr>
              <a:t>Proyecto educativo — Curso de Arquitectura de Software 2025</a:t>
            </a:r>
            <a:endParaRPr lang="en-US" sz="1150" dirty="0"/>
          </a:p>
        </p:txBody>
      </p:sp>
      <p:sp>
        <p:nvSpPr>
          <p:cNvPr id="12" name="Shape 10"/>
          <p:cNvSpPr/>
          <p:nvPr/>
        </p:nvSpPr>
        <p:spPr>
          <a:xfrm>
            <a:off x="1280160" y="2788920"/>
            <a:ext cx="1920240" cy="347472"/>
          </a:xfrm>
          <a:prstGeom prst="roundRect">
            <a:avLst>
              <a:gd name="adj" fmla="val 15789"/>
            </a:avLst>
          </a:prstGeom>
          <a:solidFill>
            <a:srgbClr val="162020"/>
          </a:solidFill>
          <a:ln w="12700">
            <a:solidFill>
              <a:srgbClr val="1E3030"/>
            </a:solidFill>
            <a:prstDash val="solid"/>
          </a:ln>
        </p:spPr>
      </p:sp>
      <p:sp>
        <p:nvSpPr>
          <p:cNvPr id="13" name="Text 11"/>
          <p:cNvSpPr/>
          <p:nvPr/>
        </p:nvSpPr>
        <p:spPr>
          <a:xfrm>
            <a:off x="1280160" y="2788920"/>
            <a:ext cx="1920240" cy="347472"/>
          </a:xfrm>
          <a:prstGeom prst="rect">
            <a:avLst/>
          </a:prstGeom>
          <a:noFill/>
          <a:ln/>
        </p:spPr>
        <p:txBody>
          <a:bodyPr wrap="square" lIns="0" tIns="0" rIns="0" bIns="0" rtlCol="0" anchor="ctr"/>
          <a:lstStyle/>
          <a:p>
            <a:pPr algn="ctr" indent="0" marL="0">
              <a:buNone/>
            </a:pPr>
            <a:r>
              <a:rPr lang="en-US" sz="1200" b="1" dirty="0">
                <a:solidFill>
                  <a:srgbClr val="00D4AA"/>
                </a:solidFill>
                <a:latin typeface="Calibri" pitchFamily="34" charset="0"/>
                <a:ea typeface="Calibri" pitchFamily="34" charset="-122"/>
                <a:cs typeface="Calibri" pitchFamily="34" charset="-120"/>
              </a:rPr>
              <a:t>NestJS</a:t>
            </a:r>
            <a:endParaRPr lang="en-US" sz="1200" dirty="0"/>
          </a:p>
        </p:txBody>
      </p:sp>
      <p:sp>
        <p:nvSpPr>
          <p:cNvPr id="14" name="Shape 12"/>
          <p:cNvSpPr/>
          <p:nvPr/>
        </p:nvSpPr>
        <p:spPr>
          <a:xfrm>
            <a:off x="3566160" y="2788920"/>
            <a:ext cx="1920240" cy="347472"/>
          </a:xfrm>
          <a:prstGeom prst="roundRect">
            <a:avLst>
              <a:gd name="adj" fmla="val 15789"/>
            </a:avLst>
          </a:prstGeom>
          <a:solidFill>
            <a:srgbClr val="162020"/>
          </a:solidFill>
          <a:ln w="12700">
            <a:solidFill>
              <a:srgbClr val="1E3030"/>
            </a:solidFill>
            <a:prstDash val="solid"/>
          </a:ln>
        </p:spPr>
      </p:sp>
      <p:sp>
        <p:nvSpPr>
          <p:cNvPr id="15" name="Text 13"/>
          <p:cNvSpPr/>
          <p:nvPr/>
        </p:nvSpPr>
        <p:spPr>
          <a:xfrm>
            <a:off x="3566160" y="2788920"/>
            <a:ext cx="1920240" cy="347472"/>
          </a:xfrm>
          <a:prstGeom prst="rect">
            <a:avLst/>
          </a:prstGeom>
          <a:noFill/>
          <a:ln/>
        </p:spPr>
        <p:txBody>
          <a:bodyPr wrap="square" lIns="0" tIns="0" rIns="0" bIns="0" rtlCol="0" anchor="ctr"/>
          <a:lstStyle/>
          <a:p>
            <a:pPr algn="ctr" indent="0" marL="0">
              <a:buNone/>
            </a:pPr>
            <a:r>
              <a:rPr lang="en-US" sz="1200" b="1" dirty="0">
                <a:solidFill>
                  <a:srgbClr val="00D4AA"/>
                </a:solidFill>
                <a:latin typeface="Calibri" pitchFamily="34" charset="0"/>
                <a:ea typeface="Calibri" pitchFamily="34" charset="-122"/>
                <a:cs typeface="Calibri" pitchFamily="34" charset="-120"/>
              </a:rPr>
              <a:t>Socket.IO</a:t>
            </a:r>
            <a:endParaRPr lang="en-US" sz="1200" dirty="0"/>
          </a:p>
        </p:txBody>
      </p:sp>
      <p:sp>
        <p:nvSpPr>
          <p:cNvPr id="16" name="Shape 14"/>
          <p:cNvSpPr/>
          <p:nvPr/>
        </p:nvSpPr>
        <p:spPr>
          <a:xfrm>
            <a:off x="5852160" y="2788920"/>
            <a:ext cx="1920240" cy="347472"/>
          </a:xfrm>
          <a:prstGeom prst="roundRect">
            <a:avLst>
              <a:gd name="adj" fmla="val 15789"/>
            </a:avLst>
          </a:prstGeom>
          <a:solidFill>
            <a:srgbClr val="162020"/>
          </a:solidFill>
          <a:ln w="12700">
            <a:solidFill>
              <a:srgbClr val="1E3030"/>
            </a:solidFill>
            <a:prstDash val="solid"/>
          </a:ln>
        </p:spPr>
      </p:sp>
      <p:sp>
        <p:nvSpPr>
          <p:cNvPr id="17" name="Text 15"/>
          <p:cNvSpPr/>
          <p:nvPr/>
        </p:nvSpPr>
        <p:spPr>
          <a:xfrm>
            <a:off x="5852160" y="2788920"/>
            <a:ext cx="1920240" cy="347472"/>
          </a:xfrm>
          <a:prstGeom prst="rect">
            <a:avLst/>
          </a:prstGeom>
          <a:noFill/>
          <a:ln/>
        </p:spPr>
        <p:txBody>
          <a:bodyPr wrap="square" lIns="0" tIns="0" rIns="0" bIns="0" rtlCol="0" anchor="ctr"/>
          <a:lstStyle/>
          <a:p>
            <a:pPr algn="ctr" indent="0" marL="0">
              <a:buNone/>
            </a:pPr>
            <a:r>
              <a:rPr lang="en-US" sz="1200" b="1" dirty="0">
                <a:solidFill>
                  <a:srgbClr val="00D4AA"/>
                </a:solidFill>
                <a:latin typeface="Calibri" pitchFamily="34" charset="0"/>
                <a:ea typeface="Calibri" pitchFamily="34" charset="-122"/>
                <a:cs typeface="Calibri" pitchFamily="34" charset="-120"/>
              </a:rPr>
              <a:t>React + Vite</a:t>
            </a:r>
            <a:endParaRPr lang="en-US" sz="1200" dirty="0"/>
          </a:p>
        </p:txBody>
      </p:sp>
      <p:sp>
        <p:nvSpPr>
          <p:cNvPr id="18" name="Shape 16"/>
          <p:cNvSpPr/>
          <p:nvPr/>
        </p:nvSpPr>
        <p:spPr>
          <a:xfrm>
            <a:off x="1280160" y="3264408"/>
            <a:ext cx="1920240" cy="347472"/>
          </a:xfrm>
          <a:prstGeom prst="roundRect">
            <a:avLst>
              <a:gd name="adj" fmla="val 15789"/>
            </a:avLst>
          </a:prstGeom>
          <a:solidFill>
            <a:srgbClr val="162020"/>
          </a:solidFill>
          <a:ln w="12700">
            <a:solidFill>
              <a:srgbClr val="1E3030"/>
            </a:solidFill>
            <a:prstDash val="solid"/>
          </a:ln>
        </p:spPr>
      </p:sp>
      <p:sp>
        <p:nvSpPr>
          <p:cNvPr id="19" name="Text 17"/>
          <p:cNvSpPr/>
          <p:nvPr/>
        </p:nvSpPr>
        <p:spPr>
          <a:xfrm>
            <a:off x="1280160" y="3264408"/>
            <a:ext cx="1920240" cy="347472"/>
          </a:xfrm>
          <a:prstGeom prst="rect">
            <a:avLst/>
          </a:prstGeom>
          <a:noFill/>
          <a:ln/>
        </p:spPr>
        <p:txBody>
          <a:bodyPr wrap="square" lIns="0" tIns="0" rIns="0" bIns="0" rtlCol="0" anchor="ctr"/>
          <a:lstStyle/>
          <a:p>
            <a:pPr algn="ctr" indent="0" marL="0">
              <a:buNone/>
            </a:pPr>
            <a:r>
              <a:rPr lang="en-US" sz="1200" b="1" dirty="0">
                <a:solidFill>
                  <a:srgbClr val="00D4AA"/>
                </a:solidFill>
                <a:latin typeface="Calibri" pitchFamily="34" charset="0"/>
                <a:ea typeface="Calibri" pitchFamily="34" charset="-122"/>
                <a:cs typeface="Calibri" pitchFamily="34" charset="-120"/>
              </a:rPr>
              <a:t>TypeScript</a:t>
            </a:r>
            <a:endParaRPr lang="en-US" sz="1200" dirty="0"/>
          </a:p>
        </p:txBody>
      </p:sp>
      <p:sp>
        <p:nvSpPr>
          <p:cNvPr id="20" name="Shape 18"/>
          <p:cNvSpPr/>
          <p:nvPr/>
        </p:nvSpPr>
        <p:spPr>
          <a:xfrm>
            <a:off x="3566160" y="3264408"/>
            <a:ext cx="1920240" cy="347472"/>
          </a:xfrm>
          <a:prstGeom prst="roundRect">
            <a:avLst>
              <a:gd name="adj" fmla="val 15789"/>
            </a:avLst>
          </a:prstGeom>
          <a:solidFill>
            <a:srgbClr val="162020"/>
          </a:solidFill>
          <a:ln w="12700">
            <a:solidFill>
              <a:srgbClr val="1E3030"/>
            </a:solidFill>
            <a:prstDash val="solid"/>
          </a:ln>
        </p:spPr>
      </p:sp>
      <p:sp>
        <p:nvSpPr>
          <p:cNvPr id="21" name="Text 19"/>
          <p:cNvSpPr/>
          <p:nvPr/>
        </p:nvSpPr>
        <p:spPr>
          <a:xfrm>
            <a:off x="3566160" y="3264408"/>
            <a:ext cx="1920240" cy="347472"/>
          </a:xfrm>
          <a:prstGeom prst="rect">
            <a:avLst/>
          </a:prstGeom>
          <a:noFill/>
          <a:ln/>
        </p:spPr>
        <p:txBody>
          <a:bodyPr wrap="square" lIns="0" tIns="0" rIns="0" bIns="0" rtlCol="0" anchor="ctr"/>
          <a:lstStyle/>
          <a:p>
            <a:pPr algn="ctr" indent="0" marL="0">
              <a:buNone/>
            </a:pPr>
            <a:r>
              <a:rPr lang="en-US" sz="1200" b="1" dirty="0">
                <a:solidFill>
                  <a:srgbClr val="00D4AA"/>
                </a:solidFill>
                <a:latin typeface="Calibri" pitchFamily="34" charset="0"/>
                <a:ea typeface="Calibri" pitchFamily="34" charset="-122"/>
                <a:cs typeface="Calibri" pitchFamily="34" charset="-120"/>
              </a:rPr>
              <a:t>Node.js</a:t>
            </a:r>
            <a:endParaRPr lang="en-US" sz="1200" dirty="0"/>
          </a:p>
        </p:txBody>
      </p:sp>
      <p:sp>
        <p:nvSpPr>
          <p:cNvPr id="22" name="Shape 20"/>
          <p:cNvSpPr/>
          <p:nvPr/>
        </p:nvSpPr>
        <p:spPr>
          <a:xfrm>
            <a:off x="5852160" y="3264408"/>
            <a:ext cx="1920240" cy="347472"/>
          </a:xfrm>
          <a:prstGeom prst="roundRect">
            <a:avLst>
              <a:gd name="adj" fmla="val 15789"/>
            </a:avLst>
          </a:prstGeom>
          <a:solidFill>
            <a:srgbClr val="162020"/>
          </a:solidFill>
          <a:ln w="12700">
            <a:solidFill>
              <a:srgbClr val="1E3030"/>
            </a:solidFill>
            <a:prstDash val="solid"/>
          </a:ln>
        </p:spPr>
      </p:sp>
      <p:sp>
        <p:nvSpPr>
          <p:cNvPr id="23" name="Text 21"/>
          <p:cNvSpPr/>
          <p:nvPr/>
        </p:nvSpPr>
        <p:spPr>
          <a:xfrm>
            <a:off x="5852160" y="3264408"/>
            <a:ext cx="1920240" cy="347472"/>
          </a:xfrm>
          <a:prstGeom prst="rect">
            <a:avLst/>
          </a:prstGeom>
          <a:noFill/>
          <a:ln/>
        </p:spPr>
        <p:txBody>
          <a:bodyPr wrap="square" lIns="0" tIns="0" rIns="0" bIns="0" rtlCol="0" anchor="ctr"/>
          <a:lstStyle/>
          <a:p>
            <a:pPr algn="ctr" indent="0" marL="0">
              <a:buNone/>
            </a:pPr>
            <a:r>
              <a:rPr lang="en-US" sz="1200" b="1" dirty="0">
                <a:solidFill>
                  <a:srgbClr val="00D4AA"/>
                </a:solidFill>
                <a:latin typeface="Calibri" pitchFamily="34" charset="0"/>
                <a:ea typeface="Calibri" pitchFamily="34" charset="-122"/>
                <a:cs typeface="Calibri" pitchFamily="34" charset="-120"/>
              </a:rPr>
              <a:t>WebSockets</a:t>
            </a:r>
            <a:endParaRPr lang="en-US" sz="1200" dirty="0"/>
          </a:p>
        </p:txBody>
      </p:sp>
      <p:sp>
        <p:nvSpPr>
          <p:cNvPr id="24" name="Shape 22"/>
          <p:cNvSpPr/>
          <p:nvPr/>
        </p:nvSpPr>
        <p:spPr>
          <a:xfrm>
            <a:off x="1371600" y="3858768"/>
            <a:ext cx="6400800" cy="987552"/>
          </a:xfrm>
          <a:prstGeom prst="roundRect">
            <a:avLst>
              <a:gd name="adj" fmla="val 9259"/>
            </a:avLst>
          </a:prstGeom>
          <a:solidFill>
            <a:srgbClr val="0F1A1A"/>
          </a:solidFill>
          <a:ln w="12700">
            <a:solidFill>
              <a:srgbClr val="1E3030"/>
            </a:solidFill>
            <a:prstDash val="solid"/>
          </a:ln>
        </p:spPr>
      </p:sp>
      <p:sp>
        <p:nvSpPr>
          <p:cNvPr id="25" name="Text 23"/>
          <p:cNvSpPr/>
          <p:nvPr/>
        </p:nvSpPr>
        <p:spPr>
          <a:xfrm>
            <a:off x="1371600" y="3931920"/>
            <a:ext cx="6400800" cy="292608"/>
          </a:xfrm>
          <a:prstGeom prst="rect">
            <a:avLst/>
          </a:prstGeom>
          <a:noFill/>
          <a:ln/>
        </p:spPr>
        <p:txBody>
          <a:bodyPr wrap="square" lIns="0" tIns="0" rIns="0" bIns="0" rtlCol="0" anchor="ctr"/>
          <a:lstStyle/>
          <a:p>
            <a:pPr algn="ctr" indent="0" marL="0">
              <a:buNone/>
            </a:pPr>
            <a:r>
              <a:rPr lang="en-US" sz="1300" b="1" dirty="0">
                <a:solidFill>
                  <a:srgbClr val="00D4AA"/>
                </a:solidFill>
                <a:latin typeface="Calibri" pitchFamily="34" charset="0"/>
                <a:ea typeface="Calibri" pitchFamily="34" charset="-122"/>
                <a:cs typeface="Calibri" pitchFamily="34" charset="-120"/>
              </a:rPr>
              <a:t>Grupo 06</a:t>
            </a:r>
            <a:endParaRPr lang="en-US" sz="1300" dirty="0"/>
          </a:p>
        </p:txBody>
      </p:sp>
      <p:sp>
        <p:nvSpPr>
          <p:cNvPr id="26" name="Text 24"/>
          <p:cNvSpPr/>
          <p:nvPr/>
        </p:nvSpPr>
        <p:spPr>
          <a:xfrm>
            <a:off x="1371600" y="4261104"/>
            <a:ext cx="6400800" cy="475488"/>
          </a:xfrm>
          <a:prstGeom prst="rect">
            <a:avLst/>
          </a:prstGeom>
          <a:noFill/>
          <a:ln/>
        </p:spPr>
        <p:txBody>
          <a:bodyPr wrap="square" lIns="0" tIns="0" rIns="0" bIns="0" rtlCol="0" anchor="ctr"/>
          <a:lstStyle/>
          <a:p>
            <a:pPr algn="ctr" indent="0" marL="0">
              <a:buNone/>
            </a:pPr>
            <a:r>
              <a:rPr lang="en-US" sz="1200" dirty="0">
                <a:solidFill>
                  <a:srgbClr val="E2F0EF"/>
                </a:solidFill>
                <a:latin typeface="Calibri" pitchFamily="34" charset="0"/>
                <a:ea typeface="Calibri" pitchFamily="34" charset="-122"/>
                <a:cs typeface="Calibri" pitchFamily="34" charset="-120"/>
              </a:rPr>
              <a:t>Davel Reymundo  ·  Humberto Lizana  ·  Dante Tarraga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0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E2F0EF"/>
                </a:solidFill>
                <a:latin typeface="Cambria" pitchFamily="34" charset="0"/>
                <a:ea typeface="Cambria" pitchFamily="34" charset="-122"/>
                <a:cs typeface="Cambria" pitchFamily="34" charset="-120"/>
              </a:rPr>
              <a:t>Integrantes del Equipo</a:t>
            </a:r>
            <a:endParaRPr lang="en-US" sz="3000" dirty="0"/>
          </a:p>
        </p:txBody>
      </p:sp>
      <p:sp>
        <p:nvSpPr>
          <p:cNvPr id="3" name="Shape 1"/>
          <p:cNvSpPr/>
          <p:nvPr/>
        </p:nvSpPr>
        <p:spPr>
          <a:xfrm>
            <a:off x="457200" y="841248"/>
            <a:ext cx="8229600" cy="0"/>
          </a:xfrm>
          <a:prstGeom prst="line">
            <a:avLst/>
          </a:prstGeom>
          <a:noFill/>
          <a:ln w="25400">
            <a:solidFill>
              <a:srgbClr val="00D4AA"/>
            </a:solidFill>
            <a:prstDash val="solid"/>
          </a:ln>
        </p:spPr>
      </p:sp>
      <p:sp>
        <p:nvSpPr>
          <p:cNvPr id="4" name="Text 2"/>
          <p:cNvSpPr/>
          <p:nvPr/>
        </p:nvSpPr>
        <p:spPr>
          <a:xfrm>
            <a:off x="457200" y="932688"/>
            <a:ext cx="8229600" cy="320040"/>
          </a:xfrm>
          <a:prstGeom prst="rect">
            <a:avLst/>
          </a:prstGeom>
          <a:noFill/>
          <a:ln/>
        </p:spPr>
        <p:txBody>
          <a:bodyPr wrap="square" lIns="0" tIns="0" rIns="0" bIns="0" rtlCol="0" anchor="ctr"/>
          <a:lstStyle/>
          <a:p>
            <a:pPr algn="l" indent="0" marL="0">
              <a:buNone/>
            </a:pPr>
            <a:r>
              <a:rPr lang="en-US" sz="1300" dirty="0">
                <a:solidFill>
                  <a:srgbClr val="7A9E9C"/>
                </a:solidFill>
                <a:latin typeface="Calibri" pitchFamily="34" charset="0"/>
                <a:ea typeface="Calibri" pitchFamily="34" charset="-122"/>
                <a:cs typeface="Calibri" pitchFamily="34" charset="-120"/>
              </a:rPr>
              <a:t>Grupo 06  —  Arquitectura de Software</a:t>
            </a:r>
            <a:endParaRPr lang="en-US" sz="1300" dirty="0"/>
          </a:p>
        </p:txBody>
      </p:sp>
      <p:sp>
        <p:nvSpPr>
          <p:cNvPr id="5" name="Shape 3"/>
          <p:cNvSpPr/>
          <p:nvPr/>
        </p:nvSpPr>
        <p:spPr>
          <a:xfrm>
            <a:off x="365760" y="1417320"/>
            <a:ext cx="8412480" cy="1051560"/>
          </a:xfrm>
          <a:prstGeom prst="roundRect">
            <a:avLst>
              <a:gd name="adj" fmla="val 8696"/>
            </a:avLst>
          </a:prstGeom>
          <a:solidFill>
            <a:srgbClr val="0F1A1A"/>
          </a:solidFill>
          <a:ln w="19050">
            <a:solidFill>
              <a:srgbClr val="00D4AA"/>
            </a:solidFill>
            <a:prstDash val="solid"/>
          </a:ln>
          <a:effectLst>
            <a:outerShdw sx="100000" sy="100000" kx="0" ky="0" algn="bl" rotWithShape="0" blurRad="101600" dist="38100" dir="2700000">
              <a:srgbClr val="000000">
                <a:alpha val="35000"/>
              </a:srgbClr>
            </a:outerShdw>
          </a:effectLst>
        </p:spPr>
      </p:sp>
      <p:sp>
        <p:nvSpPr>
          <p:cNvPr id="6" name="Shape 4"/>
          <p:cNvSpPr/>
          <p:nvPr/>
        </p:nvSpPr>
        <p:spPr>
          <a:xfrm>
            <a:off x="548640" y="1737360"/>
            <a:ext cx="411480" cy="411480"/>
          </a:xfrm>
          <a:prstGeom prst="ellipse">
            <a:avLst/>
          </a:prstGeom>
          <a:solidFill>
            <a:srgbClr val="00D4AA"/>
          </a:solidFill>
          <a:ln w="12700">
            <a:solidFill>
              <a:srgbClr val="00D4AA"/>
            </a:solidFill>
            <a:prstDash val="solid"/>
          </a:ln>
        </p:spPr>
      </p:sp>
      <p:sp>
        <p:nvSpPr>
          <p:cNvPr id="7" name="Text 5"/>
          <p:cNvSpPr/>
          <p:nvPr/>
        </p:nvSpPr>
        <p:spPr>
          <a:xfrm>
            <a:off x="548640" y="1737360"/>
            <a:ext cx="411480" cy="411480"/>
          </a:xfrm>
          <a:prstGeom prst="rect">
            <a:avLst/>
          </a:prstGeom>
          <a:noFill/>
          <a:ln/>
        </p:spPr>
        <p:txBody>
          <a:bodyPr wrap="square" lIns="0" tIns="0" rIns="0" bIns="0" rtlCol="0" anchor="ctr"/>
          <a:lstStyle/>
          <a:p>
            <a:pPr algn="ctr" indent="0" marL="0">
              <a:buNone/>
            </a:pPr>
            <a:r>
              <a:rPr lang="en-US" sz="1200" b="1" dirty="0">
                <a:solidFill>
                  <a:srgbClr val="0A0F0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1078992" y="1508760"/>
            <a:ext cx="4572000" cy="347472"/>
          </a:xfrm>
          <a:prstGeom prst="rect">
            <a:avLst/>
          </a:prstGeom>
          <a:noFill/>
          <a:ln/>
        </p:spPr>
        <p:txBody>
          <a:bodyPr wrap="square" lIns="0" tIns="0" rIns="0" bIns="0" rtlCol="0" anchor="ctr"/>
          <a:lstStyle/>
          <a:p>
            <a:pPr indent="0" marL="0">
              <a:buNone/>
            </a:pPr>
            <a:r>
              <a:rPr lang="en-US" sz="1500" b="1" dirty="0">
                <a:solidFill>
                  <a:srgbClr val="00D4AA"/>
                </a:solidFill>
                <a:latin typeface="Calibri" pitchFamily="34" charset="0"/>
                <a:ea typeface="Calibri" pitchFamily="34" charset="-122"/>
                <a:cs typeface="Calibri" pitchFamily="34" charset="-120"/>
              </a:rPr>
              <a:t>Davel Reymundo Gobea</a:t>
            </a:r>
            <a:endParaRPr lang="en-US" sz="1500" dirty="0"/>
          </a:p>
        </p:txBody>
      </p:sp>
      <p:sp>
        <p:nvSpPr>
          <p:cNvPr id="9" name="Text 7"/>
          <p:cNvSpPr/>
          <p:nvPr/>
        </p:nvSpPr>
        <p:spPr>
          <a:xfrm>
            <a:off x="1078992" y="1874520"/>
            <a:ext cx="4572000" cy="256032"/>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Backend / NestJS Gateway</a:t>
            </a:r>
            <a:endParaRPr lang="en-US" sz="1100" dirty="0"/>
          </a:p>
        </p:txBody>
      </p:sp>
      <p:sp>
        <p:nvSpPr>
          <p:cNvPr id="10" name="Text 8"/>
          <p:cNvSpPr/>
          <p:nvPr/>
        </p:nvSpPr>
        <p:spPr>
          <a:xfrm>
            <a:off x="5760720" y="1490472"/>
            <a:ext cx="2834640" cy="914400"/>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Diseño e implementación del ChatGateway con decoradores de NestJS: @WebSocketGateway, @SubscribeMessage. Gestión de los ciclos de vida OnGatewayConnection y OnGatewayDisconnect para manejo de conexiones y desconexiones.</a:t>
            </a:r>
            <a:endParaRPr lang="en-US" sz="950" dirty="0"/>
          </a:p>
        </p:txBody>
      </p:sp>
      <p:sp>
        <p:nvSpPr>
          <p:cNvPr id="11" name="Shape 9"/>
          <p:cNvSpPr/>
          <p:nvPr/>
        </p:nvSpPr>
        <p:spPr>
          <a:xfrm>
            <a:off x="365760" y="2587752"/>
            <a:ext cx="8412480" cy="1051560"/>
          </a:xfrm>
          <a:prstGeom prst="roundRect">
            <a:avLst>
              <a:gd name="adj" fmla="val 8696"/>
            </a:avLst>
          </a:prstGeom>
          <a:solidFill>
            <a:srgbClr val="0F1A1A"/>
          </a:solidFill>
          <a:ln w="19050">
            <a:solidFill>
              <a:srgbClr val="FFD166"/>
            </a:solidFill>
            <a:prstDash val="solid"/>
          </a:ln>
          <a:effectLst>
            <a:outerShdw sx="100000" sy="100000" kx="0" ky="0" algn="bl" rotWithShape="0" blurRad="101600" dist="38100" dir="2700000">
              <a:srgbClr val="000000">
                <a:alpha val="35000"/>
              </a:srgbClr>
            </a:outerShdw>
          </a:effectLst>
        </p:spPr>
      </p:sp>
      <p:sp>
        <p:nvSpPr>
          <p:cNvPr id="12" name="Shape 10"/>
          <p:cNvSpPr/>
          <p:nvPr/>
        </p:nvSpPr>
        <p:spPr>
          <a:xfrm>
            <a:off x="548640" y="2907792"/>
            <a:ext cx="411480" cy="411480"/>
          </a:xfrm>
          <a:prstGeom prst="ellipse">
            <a:avLst/>
          </a:prstGeom>
          <a:solidFill>
            <a:srgbClr val="FFD166"/>
          </a:solidFill>
          <a:ln w="12700">
            <a:solidFill>
              <a:srgbClr val="FFD166"/>
            </a:solidFill>
            <a:prstDash val="solid"/>
          </a:ln>
        </p:spPr>
      </p:sp>
      <p:sp>
        <p:nvSpPr>
          <p:cNvPr id="13" name="Text 11"/>
          <p:cNvSpPr/>
          <p:nvPr/>
        </p:nvSpPr>
        <p:spPr>
          <a:xfrm>
            <a:off x="548640" y="2907792"/>
            <a:ext cx="411480" cy="411480"/>
          </a:xfrm>
          <a:prstGeom prst="rect">
            <a:avLst/>
          </a:prstGeom>
          <a:noFill/>
          <a:ln/>
        </p:spPr>
        <p:txBody>
          <a:bodyPr wrap="square" lIns="0" tIns="0" rIns="0" bIns="0" rtlCol="0" anchor="ctr"/>
          <a:lstStyle/>
          <a:p>
            <a:pPr algn="ctr" indent="0" marL="0">
              <a:buNone/>
            </a:pPr>
            <a:r>
              <a:rPr lang="en-US" sz="1200" b="1" dirty="0">
                <a:solidFill>
                  <a:srgbClr val="0A0F0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1078992" y="2679192"/>
            <a:ext cx="4572000" cy="347472"/>
          </a:xfrm>
          <a:prstGeom prst="rect">
            <a:avLst/>
          </a:prstGeom>
          <a:noFill/>
          <a:ln/>
        </p:spPr>
        <p:txBody>
          <a:bodyPr wrap="square" lIns="0" tIns="0" rIns="0" bIns="0" rtlCol="0" anchor="ctr"/>
          <a:lstStyle/>
          <a:p>
            <a:pPr indent="0" marL="0">
              <a:buNone/>
            </a:pPr>
            <a:r>
              <a:rPr lang="en-US" sz="1500" b="1" dirty="0">
                <a:solidFill>
                  <a:srgbClr val="FFD166"/>
                </a:solidFill>
                <a:latin typeface="Calibri" pitchFamily="34" charset="0"/>
                <a:ea typeface="Calibri" pitchFamily="34" charset="-122"/>
                <a:cs typeface="Calibri" pitchFamily="34" charset="-120"/>
              </a:rPr>
              <a:t>Humberto Alejandro Lizana Ventura</a:t>
            </a:r>
            <a:endParaRPr lang="en-US" sz="1500" dirty="0"/>
          </a:p>
        </p:txBody>
      </p:sp>
      <p:sp>
        <p:nvSpPr>
          <p:cNvPr id="15" name="Text 13"/>
          <p:cNvSpPr/>
          <p:nvPr/>
        </p:nvSpPr>
        <p:spPr>
          <a:xfrm>
            <a:off x="1078992" y="3044952"/>
            <a:ext cx="4572000" cy="256032"/>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Arquitectura &amp; ChatService</a:t>
            </a:r>
            <a:endParaRPr lang="en-US" sz="1100" dirty="0"/>
          </a:p>
        </p:txBody>
      </p:sp>
      <p:sp>
        <p:nvSpPr>
          <p:cNvPr id="16" name="Text 14"/>
          <p:cNvSpPr/>
          <p:nvPr/>
        </p:nvSpPr>
        <p:spPr>
          <a:xfrm>
            <a:off x="5760720" y="2660904"/>
            <a:ext cx="2834640" cy="914400"/>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Diseño de la arquitectura general del proyecto (monorepo backend/frontend). Implementación del ChatService con estado en memoria (arrays de usuarios y mensajes), DTOs, interfaces y patrón de broadcasting server.emit().</a:t>
            </a:r>
            <a:endParaRPr lang="en-US" sz="950" dirty="0"/>
          </a:p>
        </p:txBody>
      </p:sp>
      <p:sp>
        <p:nvSpPr>
          <p:cNvPr id="17" name="Shape 15"/>
          <p:cNvSpPr/>
          <p:nvPr/>
        </p:nvSpPr>
        <p:spPr>
          <a:xfrm>
            <a:off x="365760" y="3758184"/>
            <a:ext cx="8412480" cy="1051560"/>
          </a:xfrm>
          <a:prstGeom prst="roundRect">
            <a:avLst>
              <a:gd name="adj" fmla="val 8696"/>
            </a:avLst>
          </a:prstGeom>
          <a:solidFill>
            <a:srgbClr val="0F1A1A"/>
          </a:solidFill>
          <a:ln w="19050">
            <a:solidFill>
              <a:srgbClr val="9B72CF"/>
            </a:solidFill>
            <a:prstDash val="solid"/>
          </a:ln>
          <a:effectLst>
            <a:outerShdw sx="100000" sy="100000" kx="0" ky="0" algn="bl" rotWithShape="0" blurRad="101600" dist="38100" dir="2700000">
              <a:srgbClr val="000000">
                <a:alpha val="35000"/>
              </a:srgbClr>
            </a:outerShdw>
          </a:effectLst>
        </p:spPr>
      </p:sp>
      <p:sp>
        <p:nvSpPr>
          <p:cNvPr id="18" name="Shape 16"/>
          <p:cNvSpPr/>
          <p:nvPr/>
        </p:nvSpPr>
        <p:spPr>
          <a:xfrm>
            <a:off x="548640" y="4078224"/>
            <a:ext cx="411480" cy="411480"/>
          </a:xfrm>
          <a:prstGeom prst="ellipse">
            <a:avLst/>
          </a:prstGeom>
          <a:solidFill>
            <a:srgbClr val="9B72CF"/>
          </a:solidFill>
          <a:ln w="12700">
            <a:solidFill>
              <a:srgbClr val="9B72CF"/>
            </a:solidFill>
            <a:prstDash val="solid"/>
          </a:ln>
        </p:spPr>
      </p:sp>
      <p:sp>
        <p:nvSpPr>
          <p:cNvPr id="19" name="Text 17"/>
          <p:cNvSpPr/>
          <p:nvPr/>
        </p:nvSpPr>
        <p:spPr>
          <a:xfrm>
            <a:off x="548640" y="4078224"/>
            <a:ext cx="411480" cy="411480"/>
          </a:xfrm>
          <a:prstGeom prst="rect">
            <a:avLst/>
          </a:prstGeom>
          <a:noFill/>
          <a:ln/>
        </p:spPr>
        <p:txBody>
          <a:bodyPr wrap="square" lIns="0" tIns="0" rIns="0" bIns="0" rtlCol="0" anchor="ctr"/>
          <a:lstStyle/>
          <a:p>
            <a:pPr algn="ctr" indent="0" marL="0">
              <a:buNone/>
            </a:pPr>
            <a:r>
              <a:rPr lang="en-US" sz="1200" b="1" dirty="0">
                <a:solidFill>
                  <a:srgbClr val="0A0F0F"/>
                </a:solidFill>
                <a:latin typeface="Calibri" pitchFamily="34" charset="0"/>
                <a:ea typeface="Calibri" pitchFamily="34" charset="-122"/>
                <a:cs typeface="Calibri" pitchFamily="34" charset="-120"/>
              </a:rPr>
              <a:t>03</a:t>
            </a:r>
            <a:endParaRPr lang="en-US" sz="1200" dirty="0"/>
          </a:p>
        </p:txBody>
      </p:sp>
      <p:sp>
        <p:nvSpPr>
          <p:cNvPr id="20" name="Text 18"/>
          <p:cNvSpPr/>
          <p:nvPr/>
        </p:nvSpPr>
        <p:spPr>
          <a:xfrm>
            <a:off x="1078992" y="3849624"/>
            <a:ext cx="4572000" cy="347472"/>
          </a:xfrm>
          <a:prstGeom prst="rect">
            <a:avLst/>
          </a:prstGeom>
          <a:noFill/>
          <a:ln/>
        </p:spPr>
        <p:txBody>
          <a:bodyPr wrap="square" lIns="0" tIns="0" rIns="0" bIns="0" rtlCol="0" anchor="ctr"/>
          <a:lstStyle/>
          <a:p>
            <a:pPr indent="0" marL="0">
              <a:buNone/>
            </a:pPr>
            <a:r>
              <a:rPr lang="en-US" sz="1500" b="1" dirty="0">
                <a:solidFill>
                  <a:srgbClr val="9B72CF"/>
                </a:solidFill>
                <a:latin typeface="Calibri" pitchFamily="34" charset="0"/>
                <a:ea typeface="Calibri" pitchFamily="34" charset="-122"/>
                <a:cs typeface="Calibri" pitchFamily="34" charset="-120"/>
              </a:rPr>
              <a:t>Dante Tarraga Usca</a:t>
            </a:r>
            <a:endParaRPr lang="en-US" sz="1500" dirty="0"/>
          </a:p>
        </p:txBody>
      </p:sp>
      <p:sp>
        <p:nvSpPr>
          <p:cNvPr id="21" name="Text 19"/>
          <p:cNvSpPr/>
          <p:nvPr/>
        </p:nvSpPr>
        <p:spPr>
          <a:xfrm>
            <a:off x="1078992" y="4215384"/>
            <a:ext cx="4572000" cy="256032"/>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Frontend / React + Socket.IO</a:t>
            </a:r>
            <a:endParaRPr lang="en-US" sz="1100" dirty="0"/>
          </a:p>
        </p:txBody>
      </p:sp>
      <p:sp>
        <p:nvSpPr>
          <p:cNvPr id="22" name="Text 20"/>
          <p:cNvSpPr/>
          <p:nvPr/>
        </p:nvSpPr>
        <p:spPr>
          <a:xfrm>
            <a:off x="5760720" y="3831336"/>
            <a:ext cx="2834640" cy="914400"/>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Desarrollo de los componentes React: Login, Chat y árbol de componentes. Implementación del patrón useEffect + socket.on/off, Singleton de Socket.IO en socket.ts, estado inmutable con useState y layout con CSS Flexbox.</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0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E2F0EF"/>
                </a:solidFill>
                <a:latin typeface="Cambria" pitchFamily="34" charset="0"/>
                <a:ea typeface="Cambria" pitchFamily="34" charset="-122"/>
                <a:cs typeface="Cambria" pitchFamily="34" charset="-120"/>
              </a:rPr>
              <a:t>¿Qué es Chat WebSocket?</a:t>
            </a:r>
            <a:endParaRPr lang="en-US" sz="3000" dirty="0"/>
          </a:p>
        </p:txBody>
      </p:sp>
      <p:sp>
        <p:nvSpPr>
          <p:cNvPr id="3" name="Shape 1"/>
          <p:cNvSpPr/>
          <p:nvPr/>
        </p:nvSpPr>
        <p:spPr>
          <a:xfrm>
            <a:off x="457200" y="841248"/>
            <a:ext cx="8229600" cy="0"/>
          </a:xfrm>
          <a:prstGeom prst="line">
            <a:avLst/>
          </a:prstGeom>
          <a:noFill/>
          <a:ln w="25400">
            <a:solidFill>
              <a:srgbClr val="00D4AA"/>
            </a:solidFill>
            <a:prstDash val="solid"/>
          </a:ln>
        </p:spPr>
      </p:sp>
      <p:sp>
        <p:nvSpPr>
          <p:cNvPr id="4" name="Shape 2"/>
          <p:cNvSpPr/>
          <p:nvPr/>
        </p:nvSpPr>
        <p:spPr>
          <a:xfrm>
            <a:off x="365760" y="960120"/>
            <a:ext cx="4114800" cy="3840480"/>
          </a:xfrm>
          <a:prstGeom prst="roundRect">
            <a:avLst>
              <a:gd name="adj" fmla="val 2381"/>
            </a:avLst>
          </a:prstGeom>
          <a:solidFill>
            <a:srgbClr val="0F1A1A"/>
          </a:solidFill>
          <a:ln w="12700">
            <a:solidFill>
              <a:srgbClr val="1E3030"/>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548640" y="1078992"/>
            <a:ext cx="3749040" cy="347472"/>
          </a:xfrm>
          <a:prstGeom prst="rect">
            <a:avLst/>
          </a:prstGeom>
          <a:noFill/>
          <a:ln/>
        </p:spPr>
        <p:txBody>
          <a:bodyPr wrap="square" lIns="0" tIns="0" rIns="0" bIns="0"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  Proyecto Educativo</a:t>
            </a:r>
            <a:endParaRPr lang="en-US" sz="1400" dirty="0"/>
          </a:p>
        </p:txBody>
      </p:sp>
      <p:sp>
        <p:nvSpPr>
          <p:cNvPr id="6" name="Text 4"/>
          <p:cNvSpPr/>
          <p:nvPr/>
        </p:nvSpPr>
        <p:spPr>
          <a:xfrm>
            <a:off x="548640" y="1536192"/>
            <a:ext cx="3749040" cy="713232"/>
          </a:xfrm>
          <a:prstGeom prst="rect">
            <a:avLst/>
          </a:prstGeom>
          <a:noFill/>
          <a:ln/>
        </p:spPr>
        <p:txBody>
          <a:bodyPr wrap="square" lIns="0" tIns="0" rIns="0" bIns="0" rtlCol="0" anchor="t"/>
          <a:lstStyle/>
          <a:p>
            <a:pPr indent="0" marL="0">
              <a:buNone/>
            </a:pPr>
            <a:r>
              <a:rPr lang="en-US" sz="1150" b="1" dirty="0">
                <a:solidFill>
                  <a:srgbClr val="00D4AA"/>
                </a:solidFill>
                <a:latin typeface="Calibri" pitchFamily="34" charset="0"/>
                <a:ea typeface="Calibri" pitchFamily="34" charset="-122"/>
                <a:cs typeface="Calibri" pitchFamily="34" charset="-120"/>
              </a:rPr>
              <a:t>▸  </a:t>
            </a:r>
            <a:pPr indent="0" marL="0">
              <a:buNone/>
            </a:pPr>
            <a:r>
              <a:rPr lang="en-US" sz="1150" dirty="0">
                <a:solidFill>
                  <a:srgbClr val="E2F0EF"/>
                </a:solidFill>
                <a:latin typeface="Calibri" pitchFamily="34" charset="0"/>
                <a:ea typeface="Calibri" pitchFamily="34" charset="-122"/>
                <a:cs typeface="Calibri" pitchFamily="34" charset="-120"/>
              </a:rPr>
              <a:t>Chat en tiempo real que demuestra WebSockets en un proyecto fullstack real con código funcionando.</a:t>
            </a:r>
            <a:endParaRPr lang="en-US" sz="1150" dirty="0"/>
          </a:p>
        </p:txBody>
      </p:sp>
      <p:sp>
        <p:nvSpPr>
          <p:cNvPr id="7" name="Text 5"/>
          <p:cNvSpPr/>
          <p:nvPr/>
        </p:nvSpPr>
        <p:spPr>
          <a:xfrm>
            <a:off x="548640" y="2313432"/>
            <a:ext cx="3749040" cy="713232"/>
          </a:xfrm>
          <a:prstGeom prst="rect">
            <a:avLst/>
          </a:prstGeom>
          <a:noFill/>
          <a:ln/>
        </p:spPr>
        <p:txBody>
          <a:bodyPr wrap="square" lIns="0" tIns="0" rIns="0" bIns="0" rtlCol="0" anchor="t"/>
          <a:lstStyle/>
          <a:p>
            <a:pPr indent="0" marL="0">
              <a:buNone/>
            </a:pPr>
            <a:r>
              <a:rPr lang="en-US" sz="1150" b="1" dirty="0">
                <a:solidFill>
                  <a:srgbClr val="00D4AA"/>
                </a:solidFill>
                <a:latin typeface="Calibri" pitchFamily="34" charset="0"/>
                <a:ea typeface="Calibri" pitchFamily="34" charset="-122"/>
                <a:cs typeface="Calibri" pitchFamily="34" charset="-120"/>
              </a:rPr>
              <a:t>▸  </a:t>
            </a:r>
            <a:pPr indent="0" marL="0">
              <a:buNone/>
            </a:pPr>
            <a:r>
              <a:rPr lang="en-US" sz="1150" dirty="0">
                <a:solidFill>
                  <a:srgbClr val="E2F0EF"/>
                </a:solidFill>
                <a:latin typeface="Calibri" pitchFamily="34" charset="0"/>
                <a:ea typeface="Calibri" pitchFamily="34" charset="-122"/>
                <a:cs typeface="Calibri" pitchFamily="34" charset="-120"/>
              </a:rPr>
              <a:t>Backend NestJS en puerto 3000 y frontend React+Vite en puerto 5173 comunicados exclusivamente por WebSockets.</a:t>
            </a:r>
            <a:endParaRPr lang="en-US" sz="1150" dirty="0"/>
          </a:p>
        </p:txBody>
      </p:sp>
      <p:sp>
        <p:nvSpPr>
          <p:cNvPr id="8" name="Text 6"/>
          <p:cNvSpPr/>
          <p:nvPr/>
        </p:nvSpPr>
        <p:spPr>
          <a:xfrm>
            <a:off x="548640" y="3090672"/>
            <a:ext cx="3749040" cy="713232"/>
          </a:xfrm>
          <a:prstGeom prst="rect">
            <a:avLst/>
          </a:prstGeom>
          <a:noFill/>
          <a:ln/>
        </p:spPr>
        <p:txBody>
          <a:bodyPr wrap="square" lIns="0" tIns="0" rIns="0" bIns="0" rtlCol="0" anchor="t"/>
          <a:lstStyle/>
          <a:p>
            <a:pPr indent="0" marL="0">
              <a:buNone/>
            </a:pPr>
            <a:r>
              <a:rPr lang="en-US" sz="1150" b="1" dirty="0">
                <a:solidFill>
                  <a:srgbClr val="00D4AA"/>
                </a:solidFill>
                <a:latin typeface="Calibri" pitchFamily="34" charset="0"/>
                <a:ea typeface="Calibri" pitchFamily="34" charset="-122"/>
                <a:cs typeface="Calibri" pitchFamily="34" charset="-120"/>
              </a:rPr>
              <a:t>▸  </a:t>
            </a:r>
            <a:pPr indent="0" marL="0">
              <a:buNone/>
            </a:pPr>
            <a:r>
              <a:rPr lang="en-US" sz="1150" dirty="0">
                <a:solidFill>
                  <a:srgbClr val="E2F0EF"/>
                </a:solidFill>
                <a:latin typeface="Calibri" pitchFamily="34" charset="0"/>
                <a:ea typeface="Calibri" pitchFamily="34" charset="-122"/>
                <a:cs typeface="Calibri" pitchFamily="34" charset="-120"/>
              </a:rPr>
              <a:t>Cubre: Gateway con decoradores, estado en memoria, Pub/Sub con server.emit() y patrón useEffect en React.</a:t>
            </a:r>
            <a:endParaRPr lang="en-US" sz="1150" dirty="0"/>
          </a:p>
        </p:txBody>
      </p:sp>
      <p:sp>
        <p:nvSpPr>
          <p:cNvPr id="9" name="Text 7"/>
          <p:cNvSpPr/>
          <p:nvPr/>
        </p:nvSpPr>
        <p:spPr>
          <a:xfrm>
            <a:off x="548640" y="3867912"/>
            <a:ext cx="3749040" cy="713232"/>
          </a:xfrm>
          <a:prstGeom prst="rect">
            <a:avLst/>
          </a:prstGeom>
          <a:noFill/>
          <a:ln/>
        </p:spPr>
        <p:txBody>
          <a:bodyPr wrap="square" lIns="0" tIns="0" rIns="0" bIns="0" rtlCol="0" anchor="t"/>
          <a:lstStyle/>
          <a:p>
            <a:pPr indent="0" marL="0">
              <a:buNone/>
            </a:pPr>
            <a:r>
              <a:rPr lang="en-US" sz="1150" b="1" dirty="0">
                <a:solidFill>
                  <a:srgbClr val="00D4AA"/>
                </a:solidFill>
                <a:latin typeface="Calibri" pitchFamily="34" charset="0"/>
                <a:ea typeface="Calibri" pitchFamily="34" charset="-122"/>
                <a:cs typeface="Calibri" pitchFamily="34" charset="-120"/>
              </a:rPr>
              <a:t>▸  </a:t>
            </a:r>
            <a:pPr indent="0" marL="0">
              <a:buNone/>
            </a:pPr>
            <a:r>
              <a:rPr lang="en-US" sz="1150" dirty="0">
                <a:solidFill>
                  <a:srgbClr val="E2F0EF"/>
                </a:solidFill>
                <a:latin typeface="Calibri" pitchFamily="34" charset="0"/>
                <a:ea typeface="Calibri" pitchFamily="34" charset="-122"/>
                <a:cs typeface="Calibri" pitchFamily="34" charset="-120"/>
              </a:rPr>
              <a:t>Sin base de datos — el estado vive en memoria, lo que lo hace simple de levantar y fácil de entender.</a:t>
            </a:r>
            <a:endParaRPr lang="en-US" sz="1150" dirty="0"/>
          </a:p>
        </p:txBody>
      </p:sp>
      <p:sp>
        <p:nvSpPr>
          <p:cNvPr id="10" name="Shape 8"/>
          <p:cNvSpPr/>
          <p:nvPr/>
        </p:nvSpPr>
        <p:spPr>
          <a:xfrm>
            <a:off x="4663440" y="960120"/>
            <a:ext cx="4114800" cy="3840480"/>
          </a:xfrm>
          <a:prstGeom prst="roundRect">
            <a:avLst>
              <a:gd name="adj" fmla="val 2381"/>
            </a:avLst>
          </a:prstGeom>
          <a:solidFill>
            <a:srgbClr val="0F1A1A"/>
          </a:solidFill>
          <a:ln w="12700">
            <a:solidFill>
              <a:srgbClr val="1E3030"/>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4846320" y="1078992"/>
            <a:ext cx="3749040" cy="347472"/>
          </a:xfrm>
          <a:prstGeom prst="rect">
            <a:avLst/>
          </a:prstGeom>
          <a:noFill/>
          <a:ln/>
        </p:spPr>
        <p:txBody>
          <a:bodyPr wrap="square" lIns="0" tIns="0" rIns="0" bIns="0" rtlCol="0" anchor="ctr"/>
          <a:lstStyle/>
          <a:p>
            <a:pPr indent="0" marL="0">
              <a:buNone/>
            </a:pPr>
            <a:r>
              <a:rPr lang="en-US" sz="1400" b="1" dirty="0">
                <a:solidFill>
                  <a:srgbClr val="FFD166"/>
                </a:solidFill>
                <a:latin typeface="Calibri" pitchFamily="34" charset="0"/>
                <a:ea typeface="Calibri" pitchFamily="34" charset="-122"/>
                <a:cs typeface="Calibri" pitchFamily="34" charset="-120"/>
              </a:rPr>
              <a:t>🎯  WebSockets vs HTTP</a:t>
            </a:r>
            <a:endParaRPr lang="en-US" sz="1400" dirty="0"/>
          </a:p>
        </p:txBody>
      </p:sp>
      <p:sp>
        <p:nvSpPr>
          <p:cNvPr id="12" name="Shape 10"/>
          <p:cNvSpPr/>
          <p:nvPr/>
        </p:nvSpPr>
        <p:spPr>
          <a:xfrm>
            <a:off x="4846320" y="1536192"/>
            <a:ext cx="3749040" cy="1261872"/>
          </a:xfrm>
          <a:prstGeom prst="roundRect">
            <a:avLst>
              <a:gd name="adj" fmla="val 5797"/>
            </a:avLst>
          </a:prstGeom>
          <a:solidFill>
            <a:srgbClr val="162020"/>
          </a:solidFill>
          <a:ln w="12700">
            <a:solidFill>
              <a:srgbClr val="FF6B6B"/>
            </a:solidFill>
            <a:prstDash val="solid"/>
          </a:ln>
        </p:spPr>
      </p:sp>
      <p:sp>
        <p:nvSpPr>
          <p:cNvPr id="13" name="Text 11"/>
          <p:cNvSpPr/>
          <p:nvPr/>
        </p:nvSpPr>
        <p:spPr>
          <a:xfrm>
            <a:off x="4983480" y="1600200"/>
            <a:ext cx="3474720" cy="320040"/>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  HTTP</a:t>
            </a:r>
            <a:endParaRPr lang="en-US" sz="1300" dirty="0"/>
          </a:p>
        </p:txBody>
      </p:sp>
      <p:sp>
        <p:nvSpPr>
          <p:cNvPr id="14" name="Text 12"/>
          <p:cNvSpPr/>
          <p:nvPr/>
        </p:nvSpPr>
        <p:spPr>
          <a:xfrm>
            <a:off x="4983480" y="1938528"/>
            <a:ext cx="3474720" cy="713232"/>
          </a:xfrm>
          <a:prstGeom prst="rect">
            <a:avLst/>
          </a:prstGeom>
          <a:noFill/>
          <a:ln/>
        </p:spPr>
        <p:txBody>
          <a:bodyPr wrap="square" lIns="0" tIns="0" rIns="0" bIns="0" rtlCol="0" anchor="ctr"/>
          <a:lstStyle/>
          <a:p>
            <a:pPr indent="0" marL="0">
              <a:buNone/>
            </a:pPr>
            <a:r>
              <a:rPr lang="en-US" sz="1100" dirty="0">
                <a:solidFill>
                  <a:srgbClr val="7A9E9C"/>
                </a:solidFill>
                <a:latin typeface="Calibri" pitchFamily="34" charset="0"/>
                <a:ea typeface="Calibri" pitchFamily="34" charset="-122"/>
                <a:cs typeface="Calibri" pitchFamily="34" charset="-120"/>
              </a:rPr>
              <a:t>Request-Response. El cliente siempre inicia. El servidor solo responde cuando se le pregunta.</a:t>
            </a:r>
            <a:endParaRPr lang="en-US" sz="1100" dirty="0"/>
          </a:p>
        </p:txBody>
      </p:sp>
      <p:sp>
        <p:nvSpPr>
          <p:cNvPr id="15" name="Shape 13"/>
          <p:cNvSpPr/>
          <p:nvPr/>
        </p:nvSpPr>
        <p:spPr>
          <a:xfrm>
            <a:off x="4846320" y="2953512"/>
            <a:ext cx="3749040" cy="1261872"/>
          </a:xfrm>
          <a:prstGeom prst="roundRect">
            <a:avLst>
              <a:gd name="adj" fmla="val 5797"/>
            </a:avLst>
          </a:prstGeom>
          <a:solidFill>
            <a:srgbClr val="162020"/>
          </a:solidFill>
          <a:ln w="12700">
            <a:solidFill>
              <a:srgbClr val="00D4AA"/>
            </a:solidFill>
            <a:prstDash val="solid"/>
          </a:ln>
        </p:spPr>
      </p:sp>
      <p:sp>
        <p:nvSpPr>
          <p:cNvPr id="16" name="Text 14"/>
          <p:cNvSpPr/>
          <p:nvPr/>
        </p:nvSpPr>
        <p:spPr>
          <a:xfrm>
            <a:off x="4983480" y="3017520"/>
            <a:ext cx="3474720" cy="320040"/>
          </a:xfrm>
          <a:prstGeom prst="rect">
            <a:avLst/>
          </a:prstGeom>
          <a:noFill/>
          <a:ln/>
        </p:spPr>
        <p:txBody>
          <a:bodyPr wrap="square" lIns="0" tIns="0" rIns="0" bIns="0"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  WebSocket</a:t>
            </a:r>
            <a:endParaRPr lang="en-US" sz="1300" dirty="0"/>
          </a:p>
        </p:txBody>
      </p:sp>
      <p:sp>
        <p:nvSpPr>
          <p:cNvPr id="17" name="Text 15"/>
          <p:cNvSpPr/>
          <p:nvPr/>
        </p:nvSpPr>
        <p:spPr>
          <a:xfrm>
            <a:off x="4983480" y="3355848"/>
            <a:ext cx="3474720" cy="713232"/>
          </a:xfrm>
          <a:prstGeom prst="rect">
            <a:avLst/>
          </a:prstGeom>
          <a:noFill/>
          <a:ln/>
        </p:spPr>
        <p:txBody>
          <a:bodyPr wrap="square" lIns="0" tIns="0" rIns="0" bIns="0" rtlCol="0" anchor="ctr"/>
          <a:lstStyle/>
          <a:p>
            <a:pPr indent="0" marL="0">
              <a:buNone/>
            </a:pPr>
            <a:r>
              <a:rPr lang="en-US" sz="1100" dirty="0">
                <a:solidFill>
                  <a:srgbClr val="7A9E9C"/>
                </a:solidFill>
                <a:latin typeface="Calibri" pitchFamily="34" charset="0"/>
                <a:ea typeface="Calibri" pitchFamily="34" charset="-122"/>
                <a:cs typeface="Calibri" pitchFamily="34" charset="-120"/>
              </a:rPr>
              <a:t>Conexión persistente bidireccional. Servidor y cliente pueden enviar mensajes en cualquier momento.</a:t>
            </a:r>
            <a:endParaRPr lang="en-US" sz="1100" dirty="0"/>
          </a:p>
        </p:txBody>
      </p:sp>
      <p:sp>
        <p:nvSpPr>
          <p:cNvPr id="18" name="Text 16"/>
          <p:cNvSpPr/>
          <p:nvPr/>
        </p:nvSpPr>
        <p:spPr>
          <a:xfrm>
            <a:off x="4846320" y="4041648"/>
            <a:ext cx="3749040" cy="658368"/>
          </a:xfrm>
          <a:prstGeom prst="rect">
            <a:avLst/>
          </a:prstGeom>
          <a:noFill/>
          <a:ln/>
        </p:spPr>
        <p:txBody>
          <a:bodyPr wrap="square" lIns="0" tIns="0" rIns="0" bIns="0" rtlCol="0" anchor="ctr"/>
          <a:lstStyle/>
          <a:p>
            <a:pPr indent="0" marL="0">
              <a:buNone/>
            </a:pPr>
            <a:r>
              <a:rPr lang="en-US" sz="1050" i="1" dirty="0">
                <a:solidFill>
                  <a:srgbClr val="7A9E9C"/>
                </a:solidFill>
                <a:latin typeface="Calibri" pitchFamily="34" charset="0"/>
                <a:ea typeface="Calibri" pitchFamily="34" charset="-122"/>
                <a:cs typeface="Calibri" pitchFamily="34" charset="-120"/>
              </a:rPr>
              <a:t>Un chat en tiempo real necesita WebSockets: el servidor debe notificar a todos los clientes cuando alguien envía un mensaje, sin que cada cliente esté constantemente preguntando.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0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E2F0EF"/>
                </a:solidFill>
                <a:latin typeface="Cambria" pitchFamily="34" charset="0"/>
                <a:ea typeface="Cambria" pitchFamily="34" charset="-122"/>
                <a:cs typeface="Cambria" pitchFamily="34" charset="-120"/>
              </a:rPr>
              <a:t>Arquitectura General</a:t>
            </a:r>
            <a:endParaRPr lang="en-US" sz="3000" dirty="0"/>
          </a:p>
        </p:txBody>
      </p:sp>
      <p:sp>
        <p:nvSpPr>
          <p:cNvPr id="3" name="Shape 1"/>
          <p:cNvSpPr/>
          <p:nvPr/>
        </p:nvSpPr>
        <p:spPr>
          <a:xfrm>
            <a:off x="457200" y="841248"/>
            <a:ext cx="8229600" cy="0"/>
          </a:xfrm>
          <a:prstGeom prst="line">
            <a:avLst/>
          </a:prstGeom>
          <a:noFill/>
          <a:ln w="25400">
            <a:solidFill>
              <a:srgbClr val="00D4AA"/>
            </a:solidFill>
            <a:prstDash val="solid"/>
          </a:ln>
        </p:spPr>
      </p:sp>
      <p:sp>
        <p:nvSpPr>
          <p:cNvPr id="4" name="Shape 2"/>
          <p:cNvSpPr/>
          <p:nvPr/>
        </p:nvSpPr>
        <p:spPr>
          <a:xfrm>
            <a:off x="365760" y="1005840"/>
            <a:ext cx="3474720" cy="3291840"/>
          </a:xfrm>
          <a:prstGeom prst="roundRect">
            <a:avLst>
              <a:gd name="adj" fmla="val 3333"/>
            </a:avLst>
          </a:prstGeom>
          <a:solidFill>
            <a:srgbClr val="0F1A1A"/>
          </a:solidFill>
          <a:ln w="25400">
            <a:solidFill>
              <a:srgbClr val="4A9FD4"/>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457200" y="1078992"/>
            <a:ext cx="3291840" cy="347472"/>
          </a:xfrm>
          <a:prstGeom prst="rect">
            <a:avLst/>
          </a:prstGeom>
          <a:noFill/>
          <a:ln/>
        </p:spPr>
        <p:txBody>
          <a:bodyPr wrap="square" lIns="0" tIns="0" rIns="0" bIns="0" rtlCol="0" anchor="ctr"/>
          <a:lstStyle/>
          <a:p>
            <a:pPr algn="ctr" indent="0" marL="0">
              <a:buNone/>
            </a:pPr>
            <a:r>
              <a:rPr lang="en-US" sz="1300" b="1" dirty="0">
                <a:solidFill>
                  <a:srgbClr val="4A9FD4"/>
                </a:solidFill>
                <a:latin typeface="Calibri" pitchFamily="34" charset="0"/>
                <a:ea typeface="Calibri" pitchFamily="34" charset="-122"/>
                <a:cs typeface="Calibri" pitchFamily="34" charset="-120"/>
              </a:rPr>
              <a:t>FRONTEND</a:t>
            </a:r>
            <a:endParaRPr lang="en-US" sz="1300" dirty="0"/>
          </a:p>
        </p:txBody>
      </p:sp>
      <p:sp>
        <p:nvSpPr>
          <p:cNvPr id="6" name="Text 4"/>
          <p:cNvSpPr/>
          <p:nvPr/>
        </p:nvSpPr>
        <p:spPr>
          <a:xfrm>
            <a:off x="457200" y="1417320"/>
            <a:ext cx="3291840" cy="256032"/>
          </a:xfrm>
          <a:prstGeom prst="rect">
            <a:avLst/>
          </a:prstGeom>
          <a:noFill/>
          <a:ln/>
        </p:spPr>
        <p:txBody>
          <a:bodyPr wrap="square" lIns="0" tIns="0" rIns="0" bIns="0" rtlCol="0" anchor="ctr"/>
          <a:lstStyle/>
          <a:p>
            <a:pPr algn="ctr" indent="0" marL="0">
              <a:buNone/>
            </a:pPr>
            <a:r>
              <a:rPr lang="en-US" sz="1100" dirty="0">
                <a:solidFill>
                  <a:srgbClr val="7A9E9C"/>
                </a:solidFill>
                <a:latin typeface="Calibri" pitchFamily="34" charset="0"/>
                <a:ea typeface="Calibri" pitchFamily="34" charset="-122"/>
                <a:cs typeface="Calibri" pitchFamily="34" charset="-120"/>
              </a:rPr>
              <a:t>React + Vite  :5173</a:t>
            </a:r>
            <a:endParaRPr lang="en-US" sz="1100" dirty="0"/>
          </a:p>
        </p:txBody>
      </p:sp>
      <p:sp>
        <p:nvSpPr>
          <p:cNvPr id="7" name="Shape 5"/>
          <p:cNvSpPr/>
          <p:nvPr/>
        </p:nvSpPr>
        <p:spPr>
          <a:xfrm>
            <a:off x="548640" y="1755648"/>
            <a:ext cx="2926080" cy="475488"/>
          </a:xfrm>
          <a:prstGeom prst="roundRect">
            <a:avLst>
              <a:gd name="adj" fmla="val 11538"/>
            </a:avLst>
          </a:prstGeom>
          <a:solidFill>
            <a:srgbClr val="162020"/>
          </a:solidFill>
          <a:ln w="12700">
            <a:solidFill>
              <a:srgbClr val="1E3030"/>
            </a:solidFill>
            <a:prstDash val="solid"/>
          </a:ln>
        </p:spPr>
      </p:sp>
      <p:sp>
        <p:nvSpPr>
          <p:cNvPr id="8" name="Text 6"/>
          <p:cNvSpPr/>
          <p:nvPr/>
        </p:nvSpPr>
        <p:spPr>
          <a:xfrm>
            <a:off x="548640" y="1755648"/>
            <a:ext cx="2926080" cy="475488"/>
          </a:xfrm>
          <a:prstGeom prst="rect">
            <a:avLst/>
          </a:prstGeom>
          <a:noFill/>
          <a:ln/>
        </p:spPr>
        <p:txBody>
          <a:bodyPr wrap="square" lIns="0" tIns="0" rIns="0" bIns="0" rtlCol="0" anchor="ctr"/>
          <a:lstStyle/>
          <a:p>
            <a:pPr algn="ctr" indent="0" marL="0">
              <a:buNone/>
            </a:pPr>
            <a:r>
              <a:rPr lang="en-US" sz="1100" dirty="0">
                <a:solidFill>
                  <a:srgbClr val="E2F0EF"/>
                </a:solidFill>
                <a:latin typeface="Calibri" pitchFamily="34" charset="0"/>
                <a:ea typeface="Calibri" pitchFamily="34" charset="-122"/>
                <a:cs typeface="Calibri" pitchFamily="34" charset="-120"/>
              </a:rPr>
              <a:t>App.tsx — sesión</a:t>
            </a:r>
            <a:endParaRPr lang="en-US" sz="1100" dirty="0"/>
          </a:p>
        </p:txBody>
      </p:sp>
      <p:sp>
        <p:nvSpPr>
          <p:cNvPr id="9" name="Shape 7"/>
          <p:cNvSpPr/>
          <p:nvPr/>
        </p:nvSpPr>
        <p:spPr>
          <a:xfrm>
            <a:off x="548640" y="2322576"/>
            <a:ext cx="2926080" cy="475488"/>
          </a:xfrm>
          <a:prstGeom prst="roundRect">
            <a:avLst>
              <a:gd name="adj" fmla="val 11538"/>
            </a:avLst>
          </a:prstGeom>
          <a:solidFill>
            <a:srgbClr val="162020"/>
          </a:solidFill>
          <a:ln w="12700">
            <a:solidFill>
              <a:srgbClr val="1E3030"/>
            </a:solidFill>
            <a:prstDash val="solid"/>
          </a:ln>
        </p:spPr>
      </p:sp>
      <p:sp>
        <p:nvSpPr>
          <p:cNvPr id="10" name="Text 8"/>
          <p:cNvSpPr/>
          <p:nvPr/>
        </p:nvSpPr>
        <p:spPr>
          <a:xfrm>
            <a:off x="548640" y="2322576"/>
            <a:ext cx="2926080" cy="475488"/>
          </a:xfrm>
          <a:prstGeom prst="rect">
            <a:avLst/>
          </a:prstGeom>
          <a:noFill/>
          <a:ln/>
        </p:spPr>
        <p:txBody>
          <a:bodyPr wrap="square" lIns="0" tIns="0" rIns="0" bIns="0" rtlCol="0" anchor="ctr"/>
          <a:lstStyle/>
          <a:p>
            <a:pPr algn="ctr" indent="0" marL="0">
              <a:buNone/>
            </a:pPr>
            <a:r>
              <a:rPr lang="en-US" sz="1100" dirty="0">
                <a:solidFill>
                  <a:srgbClr val="E2F0EF"/>
                </a:solidFill>
                <a:latin typeface="Calibri" pitchFamily="34" charset="0"/>
                <a:ea typeface="Calibri" pitchFamily="34" charset="-122"/>
                <a:cs typeface="Calibri" pitchFamily="34" charset="-120"/>
              </a:rPr>
              <a:t>Login.tsx — ingreso</a:t>
            </a:r>
            <a:endParaRPr lang="en-US" sz="1100" dirty="0"/>
          </a:p>
        </p:txBody>
      </p:sp>
      <p:sp>
        <p:nvSpPr>
          <p:cNvPr id="11" name="Shape 9"/>
          <p:cNvSpPr/>
          <p:nvPr/>
        </p:nvSpPr>
        <p:spPr>
          <a:xfrm>
            <a:off x="548640" y="2889504"/>
            <a:ext cx="2926080" cy="475488"/>
          </a:xfrm>
          <a:prstGeom prst="roundRect">
            <a:avLst>
              <a:gd name="adj" fmla="val 11538"/>
            </a:avLst>
          </a:prstGeom>
          <a:solidFill>
            <a:srgbClr val="162020"/>
          </a:solidFill>
          <a:ln w="12700">
            <a:solidFill>
              <a:srgbClr val="1E3030"/>
            </a:solidFill>
            <a:prstDash val="solid"/>
          </a:ln>
        </p:spPr>
      </p:sp>
      <p:sp>
        <p:nvSpPr>
          <p:cNvPr id="12" name="Text 10"/>
          <p:cNvSpPr/>
          <p:nvPr/>
        </p:nvSpPr>
        <p:spPr>
          <a:xfrm>
            <a:off x="548640" y="2889504"/>
            <a:ext cx="2926080" cy="475488"/>
          </a:xfrm>
          <a:prstGeom prst="rect">
            <a:avLst/>
          </a:prstGeom>
          <a:noFill/>
          <a:ln/>
        </p:spPr>
        <p:txBody>
          <a:bodyPr wrap="square" lIns="0" tIns="0" rIns="0" bIns="0" rtlCol="0" anchor="ctr"/>
          <a:lstStyle/>
          <a:p>
            <a:pPr algn="ctr" indent="0" marL="0">
              <a:buNone/>
            </a:pPr>
            <a:r>
              <a:rPr lang="en-US" sz="1100" dirty="0">
                <a:solidFill>
                  <a:srgbClr val="E2F0EF"/>
                </a:solidFill>
                <a:latin typeface="Calibri" pitchFamily="34" charset="0"/>
                <a:ea typeface="Calibri" pitchFamily="34" charset="-122"/>
                <a:cs typeface="Calibri" pitchFamily="34" charset="-120"/>
              </a:rPr>
              <a:t>Chat.tsx — mensajes</a:t>
            </a:r>
            <a:endParaRPr lang="en-US" sz="1100" dirty="0"/>
          </a:p>
        </p:txBody>
      </p:sp>
      <p:sp>
        <p:nvSpPr>
          <p:cNvPr id="13" name="Shape 11"/>
          <p:cNvSpPr/>
          <p:nvPr/>
        </p:nvSpPr>
        <p:spPr>
          <a:xfrm>
            <a:off x="548640" y="3456432"/>
            <a:ext cx="2926080" cy="475488"/>
          </a:xfrm>
          <a:prstGeom prst="roundRect">
            <a:avLst>
              <a:gd name="adj" fmla="val 11538"/>
            </a:avLst>
          </a:prstGeom>
          <a:solidFill>
            <a:srgbClr val="162020"/>
          </a:solidFill>
          <a:ln w="12700">
            <a:solidFill>
              <a:srgbClr val="1E3030"/>
            </a:solidFill>
            <a:prstDash val="solid"/>
          </a:ln>
        </p:spPr>
      </p:sp>
      <p:sp>
        <p:nvSpPr>
          <p:cNvPr id="14" name="Text 12"/>
          <p:cNvSpPr/>
          <p:nvPr/>
        </p:nvSpPr>
        <p:spPr>
          <a:xfrm>
            <a:off x="548640" y="3456432"/>
            <a:ext cx="2926080" cy="475488"/>
          </a:xfrm>
          <a:prstGeom prst="rect">
            <a:avLst/>
          </a:prstGeom>
          <a:noFill/>
          <a:ln/>
        </p:spPr>
        <p:txBody>
          <a:bodyPr wrap="square" lIns="0" tIns="0" rIns="0" bIns="0" rtlCol="0" anchor="ctr"/>
          <a:lstStyle/>
          <a:p>
            <a:pPr algn="ctr" indent="0" marL="0">
              <a:buNone/>
            </a:pPr>
            <a:r>
              <a:rPr lang="en-US" sz="1100" dirty="0">
                <a:solidFill>
                  <a:srgbClr val="E2F0EF"/>
                </a:solidFill>
                <a:latin typeface="Calibri" pitchFamily="34" charset="0"/>
                <a:ea typeface="Calibri" pitchFamily="34" charset="-122"/>
                <a:cs typeface="Calibri" pitchFamily="34" charset="-120"/>
              </a:rPr>
              <a:t>socket/socket.ts — Singleton WS</a:t>
            </a:r>
            <a:endParaRPr lang="en-US" sz="1100" dirty="0"/>
          </a:p>
        </p:txBody>
      </p:sp>
      <p:sp>
        <p:nvSpPr>
          <p:cNvPr id="15" name="Shape 13"/>
          <p:cNvSpPr/>
          <p:nvPr/>
        </p:nvSpPr>
        <p:spPr>
          <a:xfrm>
            <a:off x="3840480" y="2651760"/>
            <a:ext cx="1463040" cy="0"/>
          </a:xfrm>
          <a:prstGeom prst="line">
            <a:avLst/>
          </a:prstGeom>
          <a:noFill/>
          <a:ln w="31750">
            <a:solidFill>
              <a:srgbClr val="00D4AA"/>
            </a:solidFill>
            <a:prstDash val="solid"/>
          </a:ln>
        </p:spPr>
      </p:sp>
      <p:sp>
        <p:nvSpPr>
          <p:cNvPr id="16" name="Shape 14"/>
          <p:cNvSpPr/>
          <p:nvPr/>
        </p:nvSpPr>
        <p:spPr>
          <a:xfrm>
            <a:off x="5303520" y="2651760"/>
            <a:ext cx="-1463040" cy="0"/>
          </a:xfrm>
          <a:prstGeom prst="line">
            <a:avLst/>
          </a:prstGeom>
          <a:noFill/>
          <a:ln w="31750">
            <a:solidFill>
              <a:srgbClr val="00D4AA"/>
            </a:solidFill>
            <a:prstDash val="solid"/>
          </a:ln>
        </p:spPr>
      </p:sp>
      <p:sp>
        <p:nvSpPr>
          <p:cNvPr id="17" name="Shape 15"/>
          <p:cNvSpPr/>
          <p:nvPr/>
        </p:nvSpPr>
        <p:spPr>
          <a:xfrm>
            <a:off x="3794760" y="2377440"/>
            <a:ext cx="1554480" cy="502920"/>
          </a:xfrm>
          <a:prstGeom prst="roundRect">
            <a:avLst>
              <a:gd name="adj" fmla="val 14545"/>
            </a:avLst>
          </a:prstGeom>
          <a:solidFill>
            <a:srgbClr val="162020"/>
          </a:solidFill>
          <a:ln w="12700">
            <a:solidFill>
              <a:srgbClr val="00D4AA"/>
            </a:solidFill>
            <a:prstDash val="solid"/>
          </a:ln>
        </p:spPr>
      </p:sp>
      <p:sp>
        <p:nvSpPr>
          <p:cNvPr id="18" name="Text 16"/>
          <p:cNvSpPr/>
          <p:nvPr/>
        </p:nvSpPr>
        <p:spPr>
          <a:xfrm>
            <a:off x="3794760" y="2377440"/>
            <a:ext cx="1554480" cy="502920"/>
          </a:xfrm>
          <a:prstGeom prst="rect">
            <a:avLst/>
          </a:prstGeom>
          <a:noFill/>
          <a:ln/>
        </p:spPr>
        <p:txBody>
          <a:bodyPr wrap="square" lIns="0" tIns="0" rIns="0" bIns="0" rtlCol="0" anchor="ctr"/>
          <a:lstStyle/>
          <a:p>
            <a:pPr algn="ctr" indent="0" marL="0">
              <a:buNone/>
            </a:pPr>
            <a:r>
              <a:rPr lang="en-US" sz="1000" b="1" dirty="0">
                <a:solidFill>
                  <a:srgbClr val="00D4AA"/>
                </a:solidFill>
                <a:latin typeface="Calibri" pitchFamily="34" charset="0"/>
                <a:ea typeface="Calibri" pitchFamily="34" charset="-122"/>
                <a:cs typeface="Calibri" pitchFamily="34" charset="-120"/>
              </a:rPr>
              <a:t>WebSocket</a:t>
            </a:r>
            <a:endParaRPr lang="en-US" sz="1000" dirty="0"/>
          </a:p>
          <a:p>
            <a:pPr algn="ctr" indent="0" marL="0">
              <a:buNone/>
            </a:pPr>
            <a:r>
              <a:rPr lang="en-US" sz="1000" b="1" dirty="0">
                <a:solidFill>
                  <a:srgbClr val="00D4AA"/>
                </a:solidFill>
                <a:latin typeface="Calibri" pitchFamily="34" charset="0"/>
                <a:ea typeface="Calibri" pitchFamily="34" charset="-122"/>
                <a:cs typeface="Calibri" pitchFamily="34" charset="-120"/>
              </a:rPr>
              <a:t>Socket.IO</a:t>
            </a:r>
            <a:endParaRPr lang="en-US" sz="1000" dirty="0"/>
          </a:p>
        </p:txBody>
      </p:sp>
      <p:sp>
        <p:nvSpPr>
          <p:cNvPr id="19" name="Text 17"/>
          <p:cNvSpPr/>
          <p:nvPr/>
        </p:nvSpPr>
        <p:spPr>
          <a:xfrm>
            <a:off x="3703320" y="2907792"/>
            <a:ext cx="1737360" cy="228600"/>
          </a:xfrm>
          <a:prstGeom prst="rect">
            <a:avLst/>
          </a:prstGeom>
          <a:noFill/>
          <a:ln/>
        </p:spPr>
        <p:txBody>
          <a:bodyPr wrap="square" lIns="0" tIns="0" rIns="0" bIns="0" rtlCol="0" anchor="ctr"/>
          <a:lstStyle/>
          <a:p>
            <a:pPr algn="ctr" indent="0" marL="0">
              <a:buNone/>
            </a:pPr>
            <a:r>
              <a:rPr lang="en-US" sz="950" dirty="0">
                <a:solidFill>
                  <a:srgbClr val="7A9E9C"/>
                </a:solidFill>
                <a:latin typeface="Calibri" pitchFamily="34" charset="0"/>
                <a:ea typeface="Calibri" pitchFamily="34" charset="-122"/>
                <a:cs typeface="Calibri" pitchFamily="34" charset="-120"/>
              </a:rPr>
              <a:t>↔ bidireccional</a:t>
            </a:r>
            <a:endParaRPr lang="en-US" sz="950" dirty="0"/>
          </a:p>
        </p:txBody>
      </p:sp>
      <p:sp>
        <p:nvSpPr>
          <p:cNvPr id="20" name="Shape 18"/>
          <p:cNvSpPr/>
          <p:nvPr/>
        </p:nvSpPr>
        <p:spPr>
          <a:xfrm>
            <a:off x="5303520" y="1005840"/>
            <a:ext cx="3474720" cy="3291840"/>
          </a:xfrm>
          <a:prstGeom prst="roundRect">
            <a:avLst>
              <a:gd name="adj" fmla="val 3333"/>
            </a:avLst>
          </a:prstGeom>
          <a:solidFill>
            <a:srgbClr val="0F1A1A"/>
          </a:solidFill>
          <a:ln w="25400">
            <a:solidFill>
              <a:srgbClr val="06D6A0"/>
            </a:solidFill>
            <a:prstDash val="solid"/>
          </a:ln>
          <a:effectLst>
            <a:outerShdw sx="100000" sy="100000" kx="0" ky="0" algn="bl" rotWithShape="0" blurRad="101600" dist="38100" dir="2700000">
              <a:srgbClr val="000000">
                <a:alpha val="35000"/>
              </a:srgbClr>
            </a:outerShdw>
          </a:effectLst>
        </p:spPr>
      </p:sp>
      <p:sp>
        <p:nvSpPr>
          <p:cNvPr id="21" name="Text 19"/>
          <p:cNvSpPr/>
          <p:nvPr/>
        </p:nvSpPr>
        <p:spPr>
          <a:xfrm>
            <a:off x="5394960" y="1078992"/>
            <a:ext cx="3291840" cy="347472"/>
          </a:xfrm>
          <a:prstGeom prst="rect">
            <a:avLst/>
          </a:prstGeom>
          <a:noFill/>
          <a:ln/>
        </p:spPr>
        <p:txBody>
          <a:bodyPr wrap="square" lIns="0" tIns="0" rIns="0" bIns="0" rtlCol="0" anchor="ctr"/>
          <a:lstStyle/>
          <a:p>
            <a:pPr algn="ctr" indent="0" marL="0">
              <a:buNone/>
            </a:pPr>
            <a:r>
              <a:rPr lang="en-US" sz="1300" b="1" dirty="0">
                <a:solidFill>
                  <a:srgbClr val="06D6A0"/>
                </a:solidFill>
                <a:latin typeface="Calibri" pitchFamily="34" charset="0"/>
                <a:ea typeface="Calibri" pitchFamily="34" charset="-122"/>
                <a:cs typeface="Calibri" pitchFamily="34" charset="-120"/>
              </a:rPr>
              <a:t>BACKEND</a:t>
            </a:r>
            <a:endParaRPr lang="en-US" sz="1300" dirty="0"/>
          </a:p>
        </p:txBody>
      </p:sp>
      <p:sp>
        <p:nvSpPr>
          <p:cNvPr id="22" name="Text 20"/>
          <p:cNvSpPr/>
          <p:nvPr/>
        </p:nvSpPr>
        <p:spPr>
          <a:xfrm>
            <a:off x="5394960" y="1417320"/>
            <a:ext cx="3291840" cy="256032"/>
          </a:xfrm>
          <a:prstGeom prst="rect">
            <a:avLst/>
          </a:prstGeom>
          <a:noFill/>
          <a:ln/>
        </p:spPr>
        <p:txBody>
          <a:bodyPr wrap="square" lIns="0" tIns="0" rIns="0" bIns="0" rtlCol="0" anchor="ctr"/>
          <a:lstStyle/>
          <a:p>
            <a:pPr algn="ctr" indent="0" marL="0">
              <a:buNone/>
            </a:pPr>
            <a:r>
              <a:rPr lang="en-US" sz="1100" dirty="0">
                <a:solidFill>
                  <a:srgbClr val="7A9E9C"/>
                </a:solidFill>
                <a:latin typeface="Calibri" pitchFamily="34" charset="0"/>
                <a:ea typeface="Calibri" pitchFamily="34" charset="-122"/>
                <a:cs typeface="Calibri" pitchFamily="34" charset="-120"/>
              </a:rPr>
              <a:t>NestJS  :3000</a:t>
            </a:r>
            <a:endParaRPr lang="en-US" sz="1100" dirty="0"/>
          </a:p>
        </p:txBody>
      </p:sp>
      <p:sp>
        <p:nvSpPr>
          <p:cNvPr id="23" name="Shape 21"/>
          <p:cNvSpPr/>
          <p:nvPr/>
        </p:nvSpPr>
        <p:spPr>
          <a:xfrm>
            <a:off x="5486400" y="1755648"/>
            <a:ext cx="3108960" cy="475488"/>
          </a:xfrm>
          <a:prstGeom prst="roundRect">
            <a:avLst>
              <a:gd name="adj" fmla="val 11538"/>
            </a:avLst>
          </a:prstGeom>
          <a:solidFill>
            <a:srgbClr val="162020"/>
          </a:solidFill>
          <a:ln w="12700">
            <a:solidFill>
              <a:srgbClr val="1E3030"/>
            </a:solidFill>
            <a:prstDash val="solid"/>
          </a:ln>
        </p:spPr>
      </p:sp>
      <p:sp>
        <p:nvSpPr>
          <p:cNvPr id="24" name="Text 22"/>
          <p:cNvSpPr/>
          <p:nvPr/>
        </p:nvSpPr>
        <p:spPr>
          <a:xfrm>
            <a:off x="5486400" y="1755648"/>
            <a:ext cx="3108960" cy="475488"/>
          </a:xfrm>
          <a:prstGeom prst="rect">
            <a:avLst/>
          </a:prstGeom>
          <a:noFill/>
          <a:ln/>
        </p:spPr>
        <p:txBody>
          <a:bodyPr wrap="square" lIns="0" tIns="0" rIns="0" bIns="0" rtlCol="0" anchor="ctr"/>
          <a:lstStyle/>
          <a:p>
            <a:pPr algn="ctr" indent="0" marL="0">
              <a:buNone/>
            </a:pPr>
            <a:r>
              <a:rPr lang="en-US" sz="1100" dirty="0">
                <a:solidFill>
                  <a:srgbClr val="E2F0EF"/>
                </a:solidFill>
                <a:latin typeface="Calibri" pitchFamily="34" charset="0"/>
                <a:ea typeface="Calibri" pitchFamily="34" charset="-122"/>
                <a:cs typeface="Calibri" pitchFamily="34" charset="-120"/>
              </a:rPr>
              <a:t>ChatModule — feature module</a:t>
            </a:r>
            <a:endParaRPr lang="en-US" sz="1100" dirty="0"/>
          </a:p>
        </p:txBody>
      </p:sp>
      <p:sp>
        <p:nvSpPr>
          <p:cNvPr id="25" name="Shape 23"/>
          <p:cNvSpPr/>
          <p:nvPr/>
        </p:nvSpPr>
        <p:spPr>
          <a:xfrm>
            <a:off x="5486400" y="2322576"/>
            <a:ext cx="3108960" cy="475488"/>
          </a:xfrm>
          <a:prstGeom prst="roundRect">
            <a:avLst>
              <a:gd name="adj" fmla="val 11538"/>
            </a:avLst>
          </a:prstGeom>
          <a:solidFill>
            <a:srgbClr val="162020"/>
          </a:solidFill>
          <a:ln w="12700">
            <a:solidFill>
              <a:srgbClr val="1E3030"/>
            </a:solidFill>
            <a:prstDash val="solid"/>
          </a:ln>
        </p:spPr>
      </p:sp>
      <p:sp>
        <p:nvSpPr>
          <p:cNvPr id="26" name="Text 24"/>
          <p:cNvSpPr/>
          <p:nvPr/>
        </p:nvSpPr>
        <p:spPr>
          <a:xfrm>
            <a:off x="5486400" y="2322576"/>
            <a:ext cx="3108960" cy="475488"/>
          </a:xfrm>
          <a:prstGeom prst="rect">
            <a:avLst/>
          </a:prstGeom>
          <a:noFill/>
          <a:ln/>
        </p:spPr>
        <p:txBody>
          <a:bodyPr wrap="square" lIns="0" tIns="0" rIns="0" bIns="0" rtlCol="0" anchor="ctr"/>
          <a:lstStyle/>
          <a:p>
            <a:pPr algn="ctr" indent="0" marL="0">
              <a:buNone/>
            </a:pPr>
            <a:r>
              <a:rPr lang="en-US" sz="1100" dirty="0">
                <a:solidFill>
                  <a:srgbClr val="E2F0EF"/>
                </a:solidFill>
                <a:latin typeface="Calibri" pitchFamily="34" charset="0"/>
                <a:ea typeface="Calibri" pitchFamily="34" charset="-122"/>
                <a:cs typeface="Calibri" pitchFamily="34" charset="-120"/>
              </a:rPr>
              <a:t>ChatGateway — event handlers</a:t>
            </a:r>
            <a:endParaRPr lang="en-US" sz="1100" dirty="0"/>
          </a:p>
        </p:txBody>
      </p:sp>
      <p:sp>
        <p:nvSpPr>
          <p:cNvPr id="27" name="Shape 25"/>
          <p:cNvSpPr/>
          <p:nvPr/>
        </p:nvSpPr>
        <p:spPr>
          <a:xfrm>
            <a:off x="5486400" y="2889504"/>
            <a:ext cx="3108960" cy="475488"/>
          </a:xfrm>
          <a:prstGeom prst="roundRect">
            <a:avLst>
              <a:gd name="adj" fmla="val 11538"/>
            </a:avLst>
          </a:prstGeom>
          <a:solidFill>
            <a:srgbClr val="162020"/>
          </a:solidFill>
          <a:ln w="12700">
            <a:solidFill>
              <a:srgbClr val="1E3030"/>
            </a:solidFill>
            <a:prstDash val="solid"/>
          </a:ln>
        </p:spPr>
      </p:sp>
      <p:sp>
        <p:nvSpPr>
          <p:cNvPr id="28" name="Text 26"/>
          <p:cNvSpPr/>
          <p:nvPr/>
        </p:nvSpPr>
        <p:spPr>
          <a:xfrm>
            <a:off x="5486400" y="2889504"/>
            <a:ext cx="3108960" cy="475488"/>
          </a:xfrm>
          <a:prstGeom prst="rect">
            <a:avLst/>
          </a:prstGeom>
          <a:noFill/>
          <a:ln/>
        </p:spPr>
        <p:txBody>
          <a:bodyPr wrap="square" lIns="0" tIns="0" rIns="0" bIns="0" rtlCol="0" anchor="ctr"/>
          <a:lstStyle/>
          <a:p>
            <a:pPr algn="ctr" indent="0" marL="0">
              <a:buNone/>
            </a:pPr>
            <a:r>
              <a:rPr lang="en-US" sz="1100" dirty="0">
                <a:solidFill>
                  <a:srgbClr val="E2F0EF"/>
                </a:solidFill>
                <a:latin typeface="Calibri" pitchFamily="34" charset="0"/>
                <a:ea typeface="Calibri" pitchFamily="34" charset="-122"/>
                <a:cs typeface="Calibri" pitchFamily="34" charset="-120"/>
              </a:rPr>
              <a:t>ChatService — lógica + estado</a:t>
            </a:r>
            <a:endParaRPr lang="en-US" sz="1100" dirty="0"/>
          </a:p>
        </p:txBody>
      </p:sp>
      <p:sp>
        <p:nvSpPr>
          <p:cNvPr id="29" name="Shape 27"/>
          <p:cNvSpPr/>
          <p:nvPr/>
        </p:nvSpPr>
        <p:spPr>
          <a:xfrm>
            <a:off x="5486400" y="3456432"/>
            <a:ext cx="3108960" cy="475488"/>
          </a:xfrm>
          <a:prstGeom prst="roundRect">
            <a:avLst>
              <a:gd name="adj" fmla="val 11538"/>
            </a:avLst>
          </a:prstGeom>
          <a:solidFill>
            <a:srgbClr val="162020"/>
          </a:solidFill>
          <a:ln w="12700">
            <a:solidFill>
              <a:srgbClr val="1E3030"/>
            </a:solidFill>
            <a:prstDash val="solid"/>
          </a:ln>
        </p:spPr>
      </p:sp>
      <p:sp>
        <p:nvSpPr>
          <p:cNvPr id="30" name="Text 28"/>
          <p:cNvSpPr/>
          <p:nvPr/>
        </p:nvSpPr>
        <p:spPr>
          <a:xfrm>
            <a:off x="5486400" y="3456432"/>
            <a:ext cx="3108960" cy="475488"/>
          </a:xfrm>
          <a:prstGeom prst="rect">
            <a:avLst/>
          </a:prstGeom>
          <a:noFill/>
          <a:ln/>
        </p:spPr>
        <p:txBody>
          <a:bodyPr wrap="square" lIns="0" tIns="0" rIns="0" bIns="0" rtlCol="0" anchor="ctr"/>
          <a:lstStyle/>
          <a:p>
            <a:pPr algn="ctr" indent="0" marL="0">
              <a:buNone/>
            </a:pPr>
            <a:r>
              <a:rPr lang="en-US" sz="1100" dirty="0">
                <a:solidFill>
                  <a:srgbClr val="E2F0EF"/>
                </a:solidFill>
                <a:latin typeface="Calibri" pitchFamily="34" charset="0"/>
                <a:ea typeface="Calibri" pitchFamily="34" charset="-122"/>
                <a:cs typeface="Calibri" pitchFamily="34" charset="-120"/>
              </a:rPr>
              <a:t>DTOs + Interfaces — contratos</a:t>
            </a:r>
            <a:endParaRPr lang="en-US" sz="1100" dirty="0"/>
          </a:p>
        </p:txBody>
      </p:sp>
      <p:sp>
        <p:nvSpPr>
          <p:cNvPr id="31" name="Shape 29"/>
          <p:cNvSpPr/>
          <p:nvPr/>
        </p:nvSpPr>
        <p:spPr>
          <a:xfrm>
            <a:off x="365760" y="4434840"/>
            <a:ext cx="8412480" cy="475488"/>
          </a:xfrm>
          <a:prstGeom prst="roundRect">
            <a:avLst>
              <a:gd name="adj" fmla="val 15385"/>
            </a:avLst>
          </a:prstGeom>
          <a:solidFill>
            <a:srgbClr val="162020"/>
          </a:solidFill>
          <a:ln w="12700">
            <a:solidFill>
              <a:srgbClr val="1E3030"/>
            </a:solidFill>
            <a:prstDash val="solid"/>
          </a:ln>
        </p:spPr>
      </p:sp>
      <p:sp>
        <p:nvSpPr>
          <p:cNvPr id="32" name="Text 30"/>
          <p:cNvSpPr/>
          <p:nvPr/>
        </p:nvSpPr>
        <p:spPr>
          <a:xfrm>
            <a:off x="548640" y="4434840"/>
            <a:ext cx="8046720" cy="475488"/>
          </a:xfrm>
          <a:prstGeom prst="rect">
            <a:avLst/>
          </a:prstGeom>
          <a:noFill/>
          <a:ln/>
        </p:spPr>
        <p:txBody>
          <a:bodyPr wrap="square" lIns="0" tIns="0" rIns="0" bIns="0" rtlCol="0" anchor="ctr"/>
          <a:lstStyle/>
          <a:p>
            <a:pPr indent="0" marL="0">
              <a:buNone/>
            </a:pPr>
            <a:r>
              <a:rPr lang="en-US" sz="1100" dirty="0">
                <a:solidFill>
                  <a:srgbClr val="7A9E9C"/>
                </a:solidFill>
                <a:latin typeface="Calibri" pitchFamily="34" charset="0"/>
                <a:ea typeface="Calibri" pitchFamily="34" charset="-122"/>
                <a:cs typeface="Calibri" pitchFamily="34" charset="-120"/>
              </a:rPr>
              <a:t>Monorepo: /backend (NestJS) + /frontend (React+Vite) — sin base de datos, estado en memoria del servidor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0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E2F0EF"/>
                </a:solidFill>
                <a:latin typeface="Cambria" pitchFamily="34" charset="0"/>
                <a:ea typeface="Cambria" pitchFamily="34" charset="-122"/>
                <a:cs typeface="Cambria" pitchFamily="34" charset="-120"/>
              </a:rPr>
              <a:t>Stack Tecnológico</a:t>
            </a:r>
            <a:endParaRPr lang="en-US" sz="3000" dirty="0"/>
          </a:p>
        </p:txBody>
      </p:sp>
      <p:sp>
        <p:nvSpPr>
          <p:cNvPr id="3" name="Shape 1"/>
          <p:cNvSpPr/>
          <p:nvPr/>
        </p:nvSpPr>
        <p:spPr>
          <a:xfrm>
            <a:off x="457200" y="841248"/>
            <a:ext cx="8229600" cy="0"/>
          </a:xfrm>
          <a:prstGeom prst="line">
            <a:avLst/>
          </a:prstGeom>
          <a:noFill/>
          <a:ln w="25400">
            <a:solidFill>
              <a:srgbClr val="00D4AA"/>
            </a:solidFill>
            <a:prstDash val="solid"/>
          </a:ln>
        </p:spPr>
      </p:sp>
      <p:sp>
        <p:nvSpPr>
          <p:cNvPr id="4" name="Text 2"/>
          <p:cNvSpPr/>
          <p:nvPr/>
        </p:nvSpPr>
        <p:spPr>
          <a:xfrm>
            <a:off x="457200" y="914400"/>
            <a:ext cx="4023360" cy="292608"/>
          </a:xfrm>
          <a:prstGeom prst="rect">
            <a:avLst/>
          </a:prstGeom>
          <a:noFill/>
          <a:ln/>
        </p:spPr>
        <p:txBody>
          <a:bodyPr wrap="square" lIns="0" tIns="0" rIns="0" bIns="0" rtlCol="0" anchor="ctr"/>
          <a:lstStyle/>
          <a:p>
            <a:pPr indent="0" marL="0">
              <a:buNone/>
            </a:pPr>
            <a:r>
              <a:rPr lang="en-US" sz="1300" b="1" dirty="0">
                <a:solidFill>
                  <a:srgbClr val="06D6A0"/>
                </a:solidFill>
                <a:latin typeface="Calibri" pitchFamily="34" charset="0"/>
                <a:ea typeface="Calibri" pitchFamily="34" charset="-122"/>
                <a:cs typeface="Calibri" pitchFamily="34" charset="-120"/>
              </a:rPr>
              <a:t>⚙️  Backend</a:t>
            </a:r>
            <a:endParaRPr lang="en-US" sz="1300" dirty="0"/>
          </a:p>
        </p:txBody>
      </p:sp>
      <p:sp>
        <p:nvSpPr>
          <p:cNvPr id="5" name="Shape 3"/>
          <p:cNvSpPr/>
          <p:nvPr/>
        </p:nvSpPr>
        <p:spPr>
          <a:xfrm>
            <a:off x="365760" y="1261872"/>
            <a:ext cx="1920240" cy="987552"/>
          </a:xfrm>
          <a:prstGeom prst="roundRect">
            <a:avLst>
              <a:gd name="adj" fmla="val 9259"/>
            </a:avLst>
          </a:prstGeom>
          <a:solidFill>
            <a:srgbClr val="0F1A1A"/>
          </a:solidFill>
          <a:ln w="12700">
            <a:solidFill>
              <a:srgbClr val="1E3030"/>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475488" y="1335024"/>
            <a:ext cx="1719072" cy="292608"/>
          </a:xfrm>
          <a:prstGeom prst="rect">
            <a:avLst/>
          </a:prstGeom>
          <a:noFill/>
          <a:ln/>
        </p:spPr>
        <p:txBody>
          <a:bodyPr wrap="square" lIns="0" tIns="0" rIns="0" bIns="0" rtlCol="0" anchor="ctr"/>
          <a:lstStyle/>
          <a:p>
            <a:pPr indent="0" marL="0">
              <a:buNone/>
            </a:pPr>
            <a:r>
              <a:rPr lang="en-US" sz="1200" b="1" dirty="0">
                <a:solidFill>
                  <a:srgbClr val="06D6A0"/>
                </a:solidFill>
                <a:latin typeface="Calibri" pitchFamily="34" charset="0"/>
                <a:ea typeface="Calibri" pitchFamily="34" charset="-122"/>
                <a:cs typeface="Calibri" pitchFamily="34" charset="-120"/>
              </a:rPr>
              <a:t>🟢  NestJS 11</a:t>
            </a:r>
            <a:endParaRPr lang="en-US" sz="1200" dirty="0"/>
          </a:p>
        </p:txBody>
      </p:sp>
      <p:sp>
        <p:nvSpPr>
          <p:cNvPr id="7" name="Text 5"/>
          <p:cNvSpPr/>
          <p:nvPr/>
        </p:nvSpPr>
        <p:spPr>
          <a:xfrm>
            <a:off x="475488" y="1645920"/>
            <a:ext cx="1719072" cy="530352"/>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Framework MVC modular para Node.js. Arquitectura basada en módulos, servicios y decoradores TypeScript.</a:t>
            </a:r>
            <a:endParaRPr lang="en-US" sz="950" dirty="0"/>
          </a:p>
        </p:txBody>
      </p:sp>
      <p:sp>
        <p:nvSpPr>
          <p:cNvPr id="8" name="Shape 6"/>
          <p:cNvSpPr/>
          <p:nvPr/>
        </p:nvSpPr>
        <p:spPr>
          <a:xfrm>
            <a:off x="2514600" y="1261872"/>
            <a:ext cx="1920240" cy="987552"/>
          </a:xfrm>
          <a:prstGeom prst="roundRect">
            <a:avLst>
              <a:gd name="adj" fmla="val 9259"/>
            </a:avLst>
          </a:prstGeom>
          <a:solidFill>
            <a:srgbClr val="0F1A1A"/>
          </a:solidFill>
          <a:ln w="12700">
            <a:solidFill>
              <a:srgbClr val="1E3030"/>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2624328" y="1335024"/>
            <a:ext cx="1719072" cy="292608"/>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  Socket.IO 4.8</a:t>
            </a:r>
            <a:endParaRPr lang="en-US" sz="1200" dirty="0"/>
          </a:p>
        </p:txBody>
      </p:sp>
      <p:sp>
        <p:nvSpPr>
          <p:cNvPr id="10" name="Text 8"/>
          <p:cNvSpPr/>
          <p:nvPr/>
        </p:nvSpPr>
        <p:spPr>
          <a:xfrm>
            <a:off x="2624328" y="1645920"/>
            <a:ext cx="1719072" cy="530352"/>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Capa de abstracción sobre WebSockets nativo. Agrega reconexión automática, rooms y namespaces.</a:t>
            </a:r>
            <a:endParaRPr lang="en-US" sz="950" dirty="0"/>
          </a:p>
        </p:txBody>
      </p:sp>
      <p:sp>
        <p:nvSpPr>
          <p:cNvPr id="11" name="Shape 9"/>
          <p:cNvSpPr/>
          <p:nvPr/>
        </p:nvSpPr>
        <p:spPr>
          <a:xfrm>
            <a:off x="365760" y="2340864"/>
            <a:ext cx="1920240" cy="987552"/>
          </a:xfrm>
          <a:prstGeom prst="roundRect">
            <a:avLst>
              <a:gd name="adj" fmla="val 9259"/>
            </a:avLst>
          </a:prstGeom>
          <a:solidFill>
            <a:srgbClr val="0F1A1A"/>
          </a:solidFill>
          <a:ln w="12700">
            <a:solidFill>
              <a:srgbClr val="1E3030"/>
            </a:solidFill>
            <a:prstDash val="solid"/>
          </a:ln>
          <a:effectLst>
            <a:outerShdw sx="100000" sy="100000" kx="0" ky="0" algn="bl" rotWithShape="0" blurRad="101600" dist="38100" dir="2700000">
              <a:srgbClr val="000000">
                <a:alpha val="35000"/>
              </a:srgbClr>
            </a:outerShdw>
          </a:effectLst>
        </p:spPr>
      </p:sp>
      <p:sp>
        <p:nvSpPr>
          <p:cNvPr id="12" name="Text 10"/>
          <p:cNvSpPr/>
          <p:nvPr/>
        </p:nvSpPr>
        <p:spPr>
          <a:xfrm>
            <a:off x="475488" y="2414016"/>
            <a:ext cx="1719072" cy="292608"/>
          </a:xfrm>
          <a:prstGeom prst="rect">
            <a:avLst/>
          </a:prstGeom>
          <a:noFill/>
          <a:ln/>
        </p:spPr>
        <p:txBody>
          <a:bodyPr wrap="square" lIns="0" tIns="0" rIns="0" bIns="0" rtlCol="0" anchor="ctr"/>
          <a:lstStyle/>
          <a:p>
            <a:pPr indent="0" marL="0">
              <a:buNone/>
            </a:pPr>
            <a:r>
              <a:rPr lang="en-US" sz="1200" b="1" dirty="0">
                <a:solidFill>
                  <a:srgbClr val="4A9FD4"/>
                </a:solidFill>
                <a:latin typeface="Calibri" pitchFamily="34" charset="0"/>
                <a:ea typeface="Calibri" pitchFamily="34" charset="-122"/>
                <a:cs typeface="Calibri" pitchFamily="34" charset="-120"/>
              </a:rPr>
              <a:t>🔷  TypeScript 5.7</a:t>
            </a:r>
            <a:endParaRPr lang="en-US" sz="1200" dirty="0"/>
          </a:p>
        </p:txBody>
      </p:sp>
      <p:sp>
        <p:nvSpPr>
          <p:cNvPr id="13" name="Text 11"/>
          <p:cNvSpPr/>
          <p:nvPr/>
        </p:nvSpPr>
        <p:spPr>
          <a:xfrm>
            <a:off x="475488" y="2724912"/>
            <a:ext cx="1719072" cy="530352"/>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Tipado estático. Requerido para los decoradores de NestJS (experimentalDecorators: true).</a:t>
            </a:r>
            <a:endParaRPr lang="en-US" sz="950" dirty="0"/>
          </a:p>
        </p:txBody>
      </p:sp>
      <p:sp>
        <p:nvSpPr>
          <p:cNvPr id="14" name="Shape 12"/>
          <p:cNvSpPr/>
          <p:nvPr/>
        </p:nvSpPr>
        <p:spPr>
          <a:xfrm>
            <a:off x="2514600" y="2340864"/>
            <a:ext cx="1920240" cy="987552"/>
          </a:xfrm>
          <a:prstGeom prst="roundRect">
            <a:avLst>
              <a:gd name="adj" fmla="val 9259"/>
            </a:avLst>
          </a:prstGeom>
          <a:solidFill>
            <a:srgbClr val="0F1A1A"/>
          </a:solidFill>
          <a:ln w="12700">
            <a:solidFill>
              <a:srgbClr val="1E3030"/>
            </a:solidFill>
            <a:prstDash val="solid"/>
          </a:ln>
          <a:effectLst>
            <a:outerShdw sx="100000" sy="100000" kx="0" ky="0" algn="bl" rotWithShape="0" blurRad="101600" dist="38100" dir="2700000">
              <a:srgbClr val="000000">
                <a:alpha val="35000"/>
              </a:srgbClr>
            </a:outerShdw>
          </a:effectLst>
        </p:spPr>
      </p:sp>
      <p:sp>
        <p:nvSpPr>
          <p:cNvPr id="15" name="Text 13"/>
          <p:cNvSpPr/>
          <p:nvPr/>
        </p:nvSpPr>
        <p:spPr>
          <a:xfrm>
            <a:off x="2624328" y="2414016"/>
            <a:ext cx="1719072" cy="292608"/>
          </a:xfrm>
          <a:prstGeom prst="rect">
            <a:avLst/>
          </a:prstGeom>
          <a:noFill/>
          <a:ln/>
        </p:spPr>
        <p:txBody>
          <a:bodyPr wrap="square" lIns="0" tIns="0" rIns="0" bIns="0" rtlCol="0" anchor="ctr"/>
          <a:lstStyle/>
          <a:p>
            <a:pPr indent="0" marL="0">
              <a:buNone/>
            </a:pPr>
            <a:r>
              <a:rPr lang="en-US" sz="1200" b="1" dirty="0">
                <a:solidFill>
                  <a:srgbClr val="9B72CF"/>
                </a:solidFill>
                <a:latin typeface="Calibri" pitchFamily="34" charset="0"/>
                <a:ea typeface="Calibri" pitchFamily="34" charset="-122"/>
                <a:cs typeface="Calibri" pitchFamily="34" charset="-120"/>
              </a:rPr>
              <a:t>🔁  RxJS 7.8</a:t>
            </a:r>
            <a:endParaRPr lang="en-US" sz="1200" dirty="0"/>
          </a:p>
        </p:txBody>
      </p:sp>
      <p:sp>
        <p:nvSpPr>
          <p:cNvPr id="16" name="Text 14"/>
          <p:cNvSpPr/>
          <p:nvPr/>
        </p:nvSpPr>
        <p:spPr>
          <a:xfrm>
            <a:off x="2624328" y="2724912"/>
            <a:ext cx="1719072" cy="530352"/>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Programación reactiva. Usado internamente por NestJS para manejo de streams y eventos.</a:t>
            </a:r>
            <a:endParaRPr lang="en-US" sz="950" dirty="0"/>
          </a:p>
        </p:txBody>
      </p:sp>
      <p:sp>
        <p:nvSpPr>
          <p:cNvPr id="17" name="Shape 15"/>
          <p:cNvSpPr/>
          <p:nvPr/>
        </p:nvSpPr>
        <p:spPr>
          <a:xfrm>
            <a:off x="4709160" y="914400"/>
            <a:ext cx="0" cy="3383280"/>
          </a:xfrm>
          <a:prstGeom prst="line">
            <a:avLst/>
          </a:prstGeom>
          <a:noFill/>
          <a:ln w="12700">
            <a:solidFill>
              <a:srgbClr val="1E3030"/>
            </a:solidFill>
            <a:prstDash val="solid"/>
          </a:ln>
        </p:spPr>
      </p:sp>
      <p:sp>
        <p:nvSpPr>
          <p:cNvPr id="18" name="Text 16"/>
          <p:cNvSpPr/>
          <p:nvPr/>
        </p:nvSpPr>
        <p:spPr>
          <a:xfrm>
            <a:off x="4892040" y="914400"/>
            <a:ext cx="4023360" cy="292608"/>
          </a:xfrm>
          <a:prstGeom prst="rect">
            <a:avLst/>
          </a:prstGeom>
          <a:noFill/>
          <a:ln/>
        </p:spPr>
        <p:txBody>
          <a:bodyPr wrap="square" lIns="0" tIns="0" rIns="0" bIns="0" rtlCol="0" anchor="ctr"/>
          <a:lstStyle/>
          <a:p>
            <a:pPr indent="0" marL="0">
              <a:buNone/>
            </a:pPr>
            <a:r>
              <a:rPr lang="en-US" sz="1300" b="1" dirty="0">
                <a:solidFill>
                  <a:srgbClr val="4A9FD4"/>
                </a:solidFill>
                <a:latin typeface="Calibri" pitchFamily="34" charset="0"/>
                <a:ea typeface="Calibri" pitchFamily="34" charset="-122"/>
                <a:cs typeface="Calibri" pitchFamily="34" charset="-120"/>
              </a:rPr>
              <a:t>🖥️  Frontend</a:t>
            </a:r>
            <a:endParaRPr lang="en-US" sz="1300" dirty="0"/>
          </a:p>
        </p:txBody>
      </p:sp>
      <p:sp>
        <p:nvSpPr>
          <p:cNvPr id="19" name="Shape 17"/>
          <p:cNvSpPr/>
          <p:nvPr/>
        </p:nvSpPr>
        <p:spPr>
          <a:xfrm>
            <a:off x="4892040" y="1261872"/>
            <a:ext cx="1920240" cy="987552"/>
          </a:xfrm>
          <a:prstGeom prst="roundRect">
            <a:avLst>
              <a:gd name="adj" fmla="val 9259"/>
            </a:avLst>
          </a:prstGeom>
          <a:solidFill>
            <a:srgbClr val="0F1A1A"/>
          </a:solidFill>
          <a:ln w="12700">
            <a:solidFill>
              <a:srgbClr val="1E3030"/>
            </a:solidFill>
            <a:prstDash val="solid"/>
          </a:ln>
          <a:effectLst>
            <a:outerShdw sx="100000" sy="100000" kx="0" ky="0" algn="bl" rotWithShape="0" blurRad="101600" dist="38100" dir="2700000">
              <a:srgbClr val="000000">
                <a:alpha val="35000"/>
              </a:srgbClr>
            </a:outerShdw>
          </a:effectLst>
        </p:spPr>
      </p:sp>
      <p:sp>
        <p:nvSpPr>
          <p:cNvPr id="20" name="Text 18"/>
          <p:cNvSpPr/>
          <p:nvPr/>
        </p:nvSpPr>
        <p:spPr>
          <a:xfrm>
            <a:off x="5001768" y="1335024"/>
            <a:ext cx="1719072" cy="292608"/>
          </a:xfrm>
          <a:prstGeom prst="rect">
            <a:avLst/>
          </a:prstGeom>
          <a:noFill/>
          <a:ln/>
        </p:spPr>
        <p:txBody>
          <a:bodyPr wrap="square" lIns="0" tIns="0" rIns="0" bIns="0" rtlCol="0" anchor="ctr"/>
          <a:lstStyle/>
          <a:p>
            <a:pPr indent="0" marL="0">
              <a:buNone/>
            </a:pPr>
            <a:r>
              <a:rPr lang="en-US" sz="1200" b="1" dirty="0">
                <a:solidFill>
                  <a:srgbClr val="4A9FD4"/>
                </a:solidFill>
                <a:latin typeface="Calibri" pitchFamily="34" charset="0"/>
                <a:ea typeface="Calibri" pitchFamily="34" charset="-122"/>
                <a:cs typeface="Calibri" pitchFamily="34" charset="-120"/>
              </a:rPr>
              <a:t>⚛️  React 19</a:t>
            </a:r>
            <a:endParaRPr lang="en-US" sz="1200" dirty="0"/>
          </a:p>
        </p:txBody>
      </p:sp>
      <p:sp>
        <p:nvSpPr>
          <p:cNvPr id="21" name="Text 19"/>
          <p:cNvSpPr/>
          <p:nvPr/>
        </p:nvSpPr>
        <p:spPr>
          <a:xfrm>
            <a:off x="5001768" y="1645920"/>
            <a:ext cx="1719072" cy="530352"/>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Librería UI con hooks. useState para estado reactivo, useEffect para side effects con sockets.</a:t>
            </a:r>
            <a:endParaRPr lang="en-US" sz="950" dirty="0"/>
          </a:p>
        </p:txBody>
      </p:sp>
      <p:sp>
        <p:nvSpPr>
          <p:cNvPr id="22" name="Shape 20"/>
          <p:cNvSpPr/>
          <p:nvPr/>
        </p:nvSpPr>
        <p:spPr>
          <a:xfrm>
            <a:off x="7040880" y="1261872"/>
            <a:ext cx="1920240" cy="987552"/>
          </a:xfrm>
          <a:prstGeom prst="roundRect">
            <a:avLst>
              <a:gd name="adj" fmla="val 9259"/>
            </a:avLst>
          </a:prstGeom>
          <a:solidFill>
            <a:srgbClr val="0F1A1A"/>
          </a:solidFill>
          <a:ln w="12700">
            <a:solidFill>
              <a:srgbClr val="1E3030"/>
            </a:solidFill>
            <a:prstDash val="solid"/>
          </a:ln>
          <a:effectLst>
            <a:outerShdw sx="100000" sy="100000" kx="0" ky="0" algn="bl" rotWithShape="0" blurRad="101600" dist="38100" dir="2700000">
              <a:srgbClr val="000000">
                <a:alpha val="35000"/>
              </a:srgbClr>
            </a:outerShdw>
          </a:effectLst>
        </p:spPr>
      </p:sp>
      <p:sp>
        <p:nvSpPr>
          <p:cNvPr id="23" name="Text 21"/>
          <p:cNvSpPr/>
          <p:nvPr/>
        </p:nvSpPr>
        <p:spPr>
          <a:xfrm>
            <a:off x="7150608" y="1335024"/>
            <a:ext cx="1719072" cy="292608"/>
          </a:xfrm>
          <a:prstGeom prst="rect">
            <a:avLst/>
          </a:prstGeom>
          <a:noFill/>
          <a:ln/>
        </p:spPr>
        <p:txBody>
          <a:bodyPr wrap="square" lIns="0" tIns="0" rIns="0" bIns="0" rtlCol="0" anchor="ctr"/>
          <a:lstStyle/>
          <a:p>
            <a:pPr indent="0" marL="0">
              <a:buNone/>
            </a:pPr>
            <a:r>
              <a:rPr lang="en-US" sz="1200" b="1" dirty="0">
                <a:solidFill>
                  <a:srgbClr val="FFD166"/>
                </a:solidFill>
                <a:latin typeface="Calibri" pitchFamily="34" charset="0"/>
                <a:ea typeface="Calibri" pitchFamily="34" charset="-122"/>
                <a:cs typeface="Calibri" pitchFamily="34" charset="-120"/>
              </a:rPr>
              <a:t>⚡  Vite 8.1</a:t>
            </a:r>
            <a:endParaRPr lang="en-US" sz="1200" dirty="0"/>
          </a:p>
        </p:txBody>
      </p:sp>
      <p:sp>
        <p:nvSpPr>
          <p:cNvPr id="24" name="Text 22"/>
          <p:cNvSpPr/>
          <p:nvPr/>
        </p:nvSpPr>
        <p:spPr>
          <a:xfrm>
            <a:off x="7150608" y="1645920"/>
            <a:ext cx="1719072" cy="530352"/>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Bundler ultrarrápido. Dev server en puerto 5173. Build optimizado con tree-shaking.</a:t>
            </a:r>
            <a:endParaRPr lang="en-US" sz="950" dirty="0"/>
          </a:p>
        </p:txBody>
      </p:sp>
      <p:sp>
        <p:nvSpPr>
          <p:cNvPr id="25" name="Shape 23"/>
          <p:cNvSpPr/>
          <p:nvPr/>
        </p:nvSpPr>
        <p:spPr>
          <a:xfrm>
            <a:off x="4892040" y="2340864"/>
            <a:ext cx="1920240" cy="987552"/>
          </a:xfrm>
          <a:prstGeom prst="roundRect">
            <a:avLst>
              <a:gd name="adj" fmla="val 9259"/>
            </a:avLst>
          </a:prstGeom>
          <a:solidFill>
            <a:srgbClr val="0F1A1A"/>
          </a:solidFill>
          <a:ln w="12700">
            <a:solidFill>
              <a:srgbClr val="1E3030"/>
            </a:solidFill>
            <a:prstDash val="solid"/>
          </a:ln>
          <a:effectLst>
            <a:outerShdw sx="100000" sy="100000" kx="0" ky="0" algn="bl" rotWithShape="0" blurRad="101600" dist="38100" dir="2700000">
              <a:srgbClr val="000000">
                <a:alpha val="35000"/>
              </a:srgbClr>
            </a:outerShdw>
          </a:effectLst>
        </p:spPr>
      </p:sp>
      <p:sp>
        <p:nvSpPr>
          <p:cNvPr id="26" name="Text 24"/>
          <p:cNvSpPr/>
          <p:nvPr/>
        </p:nvSpPr>
        <p:spPr>
          <a:xfrm>
            <a:off x="5001768" y="2414016"/>
            <a:ext cx="1719072" cy="292608"/>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  Socket.IO Client 4.8</a:t>
            </a:r>
            <a:endParaRPr lang="en-US" sz="1200" dirty="0"/>
          </a:p>
        </p:txBody>
      </p:sp>
      <p:sp>
        <p:nvSpPr>
          <p:cNvPr id="27" name="Text 25"/>
          <p:cNvSpPr/>
          <p:nvPr/>
        </p:nvSpPr>
        <p:spPr>
          <a:xfrm>
            <a:off x="5001768" y="2724912"/>
            <a:ext cx="1719072" cy="530352"/>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Par del servidor. Mismo protocolo, reconexión automática y compatibilidad cruzada.</a:t>
            </a:r>
            <a:endParaRPr lang="en-US" sz="950" dirty="0"/>
          </a:p>
        </p:txBody>
      </p:sp>
      <p:sp>
        <p:nvSpPr>
          <p:cNvPr id="28" name="Shape 26"/>
          <p:cNvSpPr/>
          <p:nvPr/>
        </p:nvSpPr>
        <p:spPr>
          <a:xfrm>
            <a:off x="7040880" y="2340864"/>
            <a:ext cx="1920240" cy="987552"/>
          </a:xfrm>
          <a:prstGeom prst="roundRect">
            <a:avLst>
              <a:gd name="adj" fmla="val 9259"/>
            </a:avLst>
          </a:prstGeom>
          <a:solidFill>
            <a:srgbClr val="0F1A1A"/>
          </a:solidFill>
          <a:ln w="12700">
            <a:solidFill>
              <a:srgbClr val="1E3030"/>
            </a:solidFill>
            <a:prstDash val="solid"/>
          </a:ln>
          <a:effectLst>
            <a:outerShdw sx="100000" sy="100000" kx="0" ky="0" algn="bl" rotWithShape="0" blurRad="101600" dist="38100" dir="2700000">
              <a:srgbClr val="000000">
                <a:alpha val="35000"/>
              </a:srgbClr>
            </a:outerShdw>
          </a:effectLst>
        </p:spPr>
      </p:sp>
      <p:sp>
        <p:nvSpPr>
          <p:cNvPr id="29" name="Text 27"/>
          <p:cNvSpPr/>
          <p:nvPr/>
        </p:nvSpPr>
        <p:spPr>
          <a:xfrm>
            <a:off x="7150608" y="2414016"/>
            <a:ext cx="1719072" cy="292608"/>
          </a:xfrm>
          <a:prstGeom prst="rect">
            <a:avLst/>
          </a:prstGeom>
          <a:noFill/>
          <a:ln/>
        </p:spPr>
        <p:txBody>
          <a:bodyPr wrap="square" lIns="0" tIns="0" rIns="0" bIns="0" rtlCol="0" anchor="ctr"/>
          <a:lstStyle/>
          <a:p>
            <a:pPr indent="0" marL="0">
              <a:buNone/>
            </a:pPr>
            <a:r>
              <a:rPr lang="en-US" sz="1200" b="1" dirty="0">
                <a:solidFill>
                  <a:srgbClr val="7A9E9C"/>
                </a:solidFill>
                <a:latin typeface="Calibri" pitchFamily="34" charset="0"/>
                <a:ea typeface="Calibri" pitchFamily="34" charset="-122"/>
                <a:cs typeface="Calibri" pitchFamily="34" charset="-120"/>
              </a:rPr>
              <a:t>🎨  CSS Vanilla</a:t>
            </a:r>
            <a:endParaRPr lang="en-US" sz="1200" dirty="0"/>
          </a:p>
        </p:txBody>
      </p:sp>
      <p:sp>
        <p:nvSpPr>
          <p:cNvPr id="30" name="Text 28"/>
          <p:cNvSpPr/>
          <p:nvPr/>
        </p:nvSpPr>
        <p:spPr>
          <a:xfrm>
            <a:off x="7150608" y="2724912"/>
            <a:ext cx="1719072" cy="530352"/>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Sin framework CSS. Flexbox para el layout del panel de usuarios + panel de mensajes.</a:t>
            </a:r>
            <a:endParaRPr lang="en-US" sz="950" dirty="0"/>
          </a:p>
        </p:txBody>
      </p:sp>
      <p:sp>
        <p:nvSpPr>
          <p:cNvPr id="31" name="Shape 29"/>
          <p:cNvSpPr/>
          <p:nvPr/>
        </p:nvSpPr>
        <p:spPr>
          <a:xfrm>
            <a:off x="365760" y="4434840"/>
            <a:ext cx="8412480" cy="475488"/>
          </a:xfrm>
          <a:prstGeom prst="roundRect">
            <a:avLst>
              <a:gd name="adj" fmla="val 15385"/>
            </a:avLst>
          </a:prstGeom>
          <a:solidFill>
            <a:srgbClr val="162020"/>
          </a:solidFill>
          <a:ln w="12700">
            <a:solidFill>
              <a:srgbClr val="00D4AA"/>
            </a:solidFill>
            <a:prstDash val="solid"/>
          </a:ln>
        </p:spPr>
      </p:sp>
      <p:sp>
        <p:nvSpPr>
          <p:cNvPr id="32" name="Text 30"/>
          <p:cNvSpPr/>
          <p:nvPr/>
        </p:nvSpPr>
        <p:spPr>
          <a:xfrm>
            <a:off x="548640" y="4434840"/>
            <a:ext cx="8046720" cy="475488"/>
          </a:xfrm>
          <a:prstGeom prst="rect">
            <a:avLst/>
          </a:prstGeom>
          <a:noFill/>
          <a:ln/>
        </p:spPr>
        <p:txBody>
          <a:bodyPr wrap="square" lIns="0" tIns="0" rIns="0" bIns="0" rtlCol="0" anchor="ctr"/>
          <a:lstStyle/>
          <a:p>
            <a:pPr indent="0" marL="0">
              <a:buNone/>
            </a:pPr>
            <a:r>
              <a:rPr lang="en-US" sz="1100" i="1" dirty="0">
                <a:solidFill>
                  <a:srgbClr val="00D4AA"/>
                </a:solidFill>
                <a:latin typeface="Calibri" pitchFamily="34" charset="0"/>
                <a:ea typeface="Calibri" pitchFamily="34" charset="-122"/>
                <a:cs typeface="Calibri" pitchFamily="34" charset="-120"/>
              </a:rPr>
              <a:t>Las versiones de Socket.IO deben coincidir entre cliente y servidor (4.8.3) para garantizar compatibilidad de protocolo.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0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2900" b="1" dirty="0">
                <a:solidFill>
                  <a:srgbClr val="E2F0EF"/>
                </a:solidFill>
                <a:latin typeface="Cambria" pitchFamily="34" charset="0"/>
                <a:ea typeface="Cambria" pitchFamily="34" charset="-122"/>
                <a:cs typeface="Cambria" pitchFamily="34" charset="-120"/>
              </a:rPr>
              <a:t>ChatGateway — Decoradores WebSocket</a:t>
            </a:r>
            <a:endParaRPr lang="en-US" sz="2900" dirty="0"/>
          </a:p>
        </p:txBody>
      </p:sp>
      <p:sp>
        <p:nvSpPr>
          <p:cNvPr id="3" name="Shape 1"/>
          <p:cNvSpPr/>
          <p:nvPr/>
        </p:nvSpPr>
        <p:spPr>
          <a:xfrm>
            <a:off x="457200" y="841248"/>
            <a:ext cx="8229600" cy="0"/>
          </a:xfrm>
          <a:prstGeom prst="line">
            <a:avLst/>
          </a:prstGeom>
          <a:noFill/>
          <a:ln w="25400">
            <a:solidFill>
              <a:srgbClr val="00D4AA"/>
            </a:solidFill>
            <a:prstDash val="solid"/>
          </a:ln>
        </p:spPr>
      </p:sp>
      <p:sp>
        <p:nvSpPr>
          <p:cNvPr id="4" name="Text 2"/>
          <p:cNvSpPr/>
          <p:nvPr/>
        </p:nvSpPr>
        <p:spPr>
          <a:xfrm>
            <a:off x="457200" y="914400"/>
            <a:ext cx="8229600" cy="256032"/>
          </a:xfrm>
          <a:prstGeom prst="rect">
            <a:avLst/>
          </a:prstGeom>
          <a:noFill/>
          <a:ln/>
        </p:spPr>
        <p:txBody>
          <a:bodyPr wrap="square" lIns="0" tIns="0" rIns="0" bIns="0" rtlCol="0" anchor="ctr"/>
          <a:lstStyle/>
          <a:p>
            <a:pPr indent="0" marL="0">
              <a:buNone/>
            </a:pPr>
            <a:r>
              <a:rPr lang="en-US" sz="1150" i="1" dirty="0">
                <a:solidFill>
                  <a:srgbClr val="7A9E9C"/>
                </a:solidFill>
                <a:latin typeface="Calibri" pitchFamily="34" charset="0"/>
                <a:ea typeface="Calibri" pitchFamily="34" charset="-122"/>
                <a:cs typeface="Calibri" pitchFamily="34" charset="-120"/>
              </a:rPr>
              <a:t>El patrón Gateway reemplaza los @Get()/@Post() de REST por suscripciones a eventos WebSocket</a:t>
            </a:r>
            <a:endParaRPr lang="en-US" sz="1150" dirty="0"/>
          </a:p>
        </p:txBody>
      </p:sp>
      <p:sp>
        <p:nvSpPr>
          <p:cNvPr id="5" name="Shape 3"/>
          <p:cNvSpPr/>
          <p:nvPr/>
        </p:nvSpPr>
        <p:spPr>
          <a:xfrm>
            <a:off x="365760" y="1207008"/>
            <a:ext cx="4754880" cy="3657600"/>
          </a:xfrm>
          <a:prstGeom prst="roundRect">
            <a:avLst>
              <a:gd name="adj" fmla="val 2500"/>
            </a:avLst>
          </a:prstGeom>
          <a:solidFill>
            <a:srgbClr val="0F1A1A"/>
          </a:solidFill>
          <a:ln w="19050">
            <a:solidFill>
              <a:srgbClr val="06D6A0"/>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548640" y="1280160"/>
            <a:ext cx="4389120" cy="320040"/>
          </a:xfrm>
          <a:prstGeom prst="rect">
            <a:avLst/>
          </a:prstGeom>
          <a:noFill/>
          <a:ln/>
        </p:spPr>
        <p:txBody>
          <a:bodyPr wrap="square" lIns="0" tIns="0" rIns="0" bIns="0" rtlCol="0" anchor="ctr"/>
          <a:lstStyle/>
          <a:p>
            <a:pPr indent="0" marL="0">
              <a:buNone/>
            </a:pPr>
            <a:r>
              <a:rPr lang="en-US" sz="1300" b="1" dirty="0">
                <a:solidFill>
                  <a:srgbClr val="06D6A0"/>
                </a:solidFill>
                <a:latin typeface="Calibri" pitchFamily="34" charset="0"/>
                <a:ea typeface="Calibri" pitchFamily="34" charset="-122"/>
                <a:cs typeface="Calibri" pitchFamily="34" charset="-120"/>
              </a:rPr>
              <a:t>📄  chat.gateway.ts</a:t>
            </a:r>
            <a:endParaRPr lang="en-US" sz="1300" dirty="0"/>
          </a:p>
        </p:txBody>
      </p:sp>
      <p:sp>
        <p:nvSpPr>
          <p:cNvPr id="7" name="Text 5"/>
          <p:cNvSpPr/>
          <p:nvPr/>
        </p:nvSpPr>
        <p:spPr>
          <a:xfrm>
            <a:off x="548640" y="1664208"/>
            <a:ext cx="4389120" cy="169164"/>
          </a:xfrm>
          <a:prstGeom prst="rect">
            <a:avLst/>
          </a:prstGeom>
          <a:noFill/>
          <a:ln/>
        </p:spPr>
        <p:txBody>
          <a:bodyPr wrap="square" lIns="0" tIns="0" rIns="0" bIns="0" rtlCol="0" anchor="ctr"/>
          <a:lstStyle/>
          <a:p>
            <a:pPr indent="0" marL="0">
              <a:buNone/>
            </a:pPr>
            <a:r>
              <a:rPr lang="en-US" sz="950" dirty="0">
                <a:solidFill>
                  <a:srgbClr val="00D4AA"/>
                </a:solidFill>
                <a:latin typeface="Courier New" pitchFamily="34" charset="0"/>
                <a:ea typeface="Courier New" pitchFamily="34" charset="-122"/>
                <a:cs typeface="Courier New" pitchFamily="34" charset="-120"/>
              </a:rPr>
              <a:t>@WebSocketGateway({</a:t>
            </a:r>
            <a:endParaRPr lang="en-US" sz="950" dirty="0"/>
          </a:p>
        </p:txBody>
      </p:sp>
      <p:sp>
        <p:nvSpPr>
          <p:cNvPr id="8" name="Text 6"/>
          <p:cNvSpPr/>
          <p:nvPr/>
        </p:nvSpPr>
        <p:spPr>
          <a:xfrm>
            <a:off x="548640" y="1833372"/>
            <a:ext cx="4389120" cy="169164"/>
          </a:xfrm>
          <a:prstGeom prst="rect">
            <a:avLst/>
          </a:prstGeom>
          <a:noFill/>
          <a:ln/>
        </p:spPr>
        <p:txBody>
          <a:bodyPr wrap="square" lIns="0" tIns="0" rIns="0" bIns="0" rtlCol="0" anchor="ctr"/>
          <a:lstStyle/>
          <a:p>
            <a:pPr indent="0" marL="0">
              <a:buNone/>
            </a:pPr>
            <a:r>
              <a:rPr lang="en-US" sz="950" dirty="0">
                <a:solidFill>
                  <a:srgbClr val="7A9E9C"/>
                </a:solidFill>
                <a:latin typeface="Courier New" pitchFamily="34" charset="0"/>
                <a:ea typeface="Courier New" pitchFamily="34" charset="-122"/>
                <a:cs typeface="Courier New" pitchFamily="34" charset="-120"/>
              </a:rPr>
              <a:t>  cors: { origin:</a:t>
            </a:r>
            <a:endParaRPr lang="en-US" sz="950" dirty="0"/>
          </a:p>
        </p:txBody>
      </p:sp>
      <p:sp>
        <p:nvSpPr>
          <p:cNvPr id="9" name="Text 7"/>
          <p:cNvSpPr/>
          <p:nvPr/>
        </p:nvSpPr>
        <p:spPr>
          <a:xfrm>
            <a:off x="548640" y="2002536"/>
            <a:ext cx="4389120" cy="169164"/>
          </a:xfrm>
          <a:prstGeom prst="rect">
            <a:avLst/>
          </a:prstGeom>
          <a:noFill/>
          <a:ln/>
        </p:spPr>
        <p:txBody>
          <a:bodyPr wrap="square" lIns="0" tIns="0" rIns="0" bIns="0" rtlCol="0" anchor="ctr"/>
          <a:lstStyle/>
          <a:p>
            <a:pPr indent="0" marL="0">
              <a:buNone/>
            </a:pPr>
            <a:r>
              <a:rPr lang="en-US" sz="950" dirty="0">
                <a:solidFill>
                  <a:srgbClr val="FFD166"/>
                </a:solidFill>
                <a:latin typeface="Courier New" pitchFamily="34" charset="0"/>
                <a:ea typeface="Courier New" pitchFamily="34" charset="-122"/>
                <a:cs typeface="Courier New" pitchFamily="34" charset="-120"/>
              </a:rPr>
              <a:t>    'http://localhost:5173'</a:t>
            </a:r>
            <a:endParaRPr lang="en-US" sz="950" dirty="0"/>
          </a:p>
        </p:txBody>
      </p:sp>
      <p:sp>
        <p:nvSpPr>
          <p:cNvPr id="10" name="Text 8"/>
          <p:cNvSpPr/>
          <p:nvPr/>
        </p:nvSpPr>
        <p:spPr>
          <a:xfrm>
            <a:off x="548640" y="2171700"/>
            <a:ext cx="4389120" cy="169164"/>
          </a:xfrm>
          <a:prstGeom prst="rect">
            <a:avLst/>
          </a:prstGeom>
          <a:noFill/>
          <a:ln/>
        </p:spPr>
        <p:txBody>
          <a:bodyPr wrap="square" lIns="0" tIns="0" rIns="0" bIns="0" rtlCol="0" anchor="ctr"/>
          <a:lstStyle/>
          <a:p>
            <a:pPr indent="0" marL="0">
              <a:buNone/>
            </a:pPr>
            <a:r>
              <a:rPr lang="en-US" sz="950" dirty="0">
                <a:solidFill>
                  <a:srgbClr val="7A9E9C"/>
                </a:solidFill>
                <a:latin typeface="Courier New" pitchFamily="34" charset="0"/>
                <a:ea typeface="Courier New" pitchFamily="34" charset="-122"/>
                <a:cs typeface="Courier New" pitchFamily="34" charset="-120"/>
              </a:rPr>
              <a:t>  }</a:t>
            </a:r>
            <a:endParaRPr lang="en-US" sz="950" dirty="0"/>
          </a:p>
        </p:txBody>
      </p:sp>
      <p:sp>
        <p:nvSpPr>
          <p:cNvPr id="11" name="Text 9"/>
          <p:cNvSpPr/>
          <p:nvPr/>
        </p:nvSpPr>
        <p:spPr>
          <a:xfrm>
            <a:off x="548640" y="2340864"/>
            <a:ext cx="4389120" cy="169164"/>
          </a:xfrm>
          <a:prstGeom prst="rect">
            <a:avLst/>
          </a:prstGeom>
          <a:noFill/>
          <a:ln/>
        </p:spPr>
        <p:txBody>
          <a:bodyPr wrap="square" lIns="0" tIns="0" rIns="0" bIns="0" rtlCol="0" anchor="ctr"/>
          <a:lstStyle/>
          <a:p>
            <a:pPr indent="0" marL="0">
              <a:buNone/>
            </a:pPr>
            <a:r>
              <a:rPr lang="en-US" sz="950" dirty="0">
                <a:solidFill>
                  <a:srgbClr val="00D4AA"/>
                </a:solidFill>
                <a:latin typeface="Courier New" pitchFamily="34" charset="0"/>
                <a:ea typeface="Courier New" pitchFamily="34" charset="-122"/>
                <a:cs typeface="Courier New" pitchFamily="34" charset="-120"/>
              </a:rPr>
              <a:t>})</a:t>
            </a:r>
            <a:endParaRPr lang="en-US" sz="950" dirty="0"/>
          </a:p>
        </p:txBody>
      </p:sp>
      <p:sp>
        <p:nvSpPr>
          <p:cNvPr id="12" name="Text 10"/>
          <p:cNvSpPr/>
          <p:nvPr/>
        </p:nvSpPr>
        <p:spPr>
          <a:xfrm>
            <a:off x="548640" y="2510028"/>
            <a:ext cx="4389120" cy="169164"/>
          </a:xfrm>
          <a:prstGeom prst="rect">
            <a:avLst/>
          </a:prstGeom>
          <a:noFill/>
          <a:ln/>
        </p:spPr>
        <p:txBody>
          <a:bodyPr wrap="square" lIns="0" tIns="0" rIns="0" bIns="0" rtlCol="0" anchor="ctr"/>
          <a:lstStyle/>
          <a:p>
            <a:pPr indent="0" marL="0">
              <a:buNone/>
            </a:pPr>
            <a:r>
              <a:rPr lang="en-US" sz="950" dirty="0">
                <a:solidFill>
                  <a:srgbClr val="4A9FD4"/>
                </a:solidFill>
                <a:latin typeface="Courier New" pitchFamily="34" charset="0"/>
                <a:ea typeface="Courier New" pitchFamily="34" charset="-122"/>
                <a:cs typeface="Courier New" pitchFamily="34" charset="-120"/>
              </a:rPr>
              <a:t>export class ChatGateway</a:t>
            </a:r>
            <a:endParaRPr lang="en-US" sz="950" dirty="0"/>
          </a:p>
        </p:txBody>
      </p:sp>
      <p:sp>
        <p:nvSpPr>
          <p:cNvPr id="13" name="Text 11"/>
          <p:cNvSpPr/>
          <p:nvPr/>
        </p:nvSpPr>
        <p:spPr>
          <a:xfrm>
            <a:off x="548640" y="2679192"/>
            <a:ext cx="4389120" cy="169164"/>
          </a:xfrm>
          <a:prstGeom prst="rect">
            <a:avLst/>
          </a:prstGeom>
          <a:noFill/>
          <a:ln/>
        </p:spPr>
        <p:txBody>
          <a:bodyPr wrap="square" lIns="0" tIns="0" rIns="0" bIns="0" rtlCol="0" anchor="ctr"/>
          <a:lstStyle/>
          <a:p>
            <a:pPr indent="0" marL="0">
              <a:buNone/>
            </a:pPr>
            <a:r>
              <a:rPr lang="en-US" sz="950" dirty="0">
                <a:solidFill>
                  <a:srgbClr val="E2F0EF"/>
                </a:solidFill>
                <a:latin typeface="Courier New" pitchFamily="34" charset="0"/>
                <a:ea typeface="Courier New" pitchFamily="34" charset="-122"/>
                <a:cs typeface="Courier New" pitchFamily="34" charset="-120"/>
              </a:rPr>
              <a:t>  implements OnGatewayConnection,</a:t>
            </a:r>
            <a:endParaRPr lang="en-US" sz="950" dirty="0"/>
          </a:p>
        </p:txBody>
      </p:sp>
      <p:sp>
        <p:nvSpPr>
          <p:cNvPr id="14" name="Text 12"/>
          <p:cNvSpPr/>
          <p:nvPr/>
        </p:nvSpPr>
        <p:spPr>
          <a:xfrm>
            <a:off x="548640" y="2848356"/>
            <a:ext cx="4389120" cy="169164"/>
          </a:xfrm>
          <a:prstGeom prst="rect">
            <a:avLst/>
          </a:prstGeom>
          <a:noFill/>
          <a:ln/>
        </p:spPr>
        <p:txBody>
          <a:bodyPr wrap="square" lIns="0" tIns="0" rIns="0" bIns="0" rtlCol="0" anchor="ctr"/>
          <a:lstStyle/>
          <a:p>
            <a:pPr indent="0" marL="0">
              <a:buNone/>
            </a:pPr>
            <a:r>
              <a:rPr lang="en-US" sz="950" dirty="0">
                <a:solidFill>
                  <a:srgbClr val="E2F0EF"/>
                </a:solidFill>
                <a:latin typeface="Courier New" pitchFamily="34" charset="0"/>
                <a:ea typeface="Courier New" pitchFamily="34" charset="-122"/>
                <a:cs typeface="Courier New" pitchFamily="34" charset="-120"/>
              </a:rPr>
              <a:t>           OnGatewayDisconnect {</a:t>
            </a:r>
            <a:endParaRPr lang="en-US" sz="950" dirty="0"/>
          </a:p>
        </p:txBody>
      </p:sp>
      <p:sp>
        <p:nvSpPr>
          <p:cNvPr id="15" name="Text 13"/>
          <p:cNvSpPr/>
          <p:nvPr/>
        </p:nvSpPr>
        <p:spPr>
          <a:xfrm>
            <a:off x="548640" y="3017520"/>
            <a:ext cx="4389120" cy="169164"/>
          </a:xfrm>
          <a:prstGeom prst="rect">
            <a:avLst/>
          </a:prstGeom>
          <a:noFill/>
          <a:ln/>
        </p:spPr>
        <p:txBody>
          <a:bodyPr wrap="square" lIns="0" tIns="0" rIns="0" bIns="0" rtlCol="0" anchor="ctr"/>
          <a:lstStyle/>
          <a:p>
            <a:pPr indent="0" marL="0">
              <a:buNone/>
            </a:pPr>
            <a:endParaRPr lang="en-US" sz="950" dirty="0"/>
          </a:p>
        </p:txBody>
      </p:sp>
      <p:sp>
        <p:nvSpPr>
          <p:cNvPr id="16" name="Text 14"/>
          <p:cNvSpPr/>
          <p:nvPr/>
        </p:nvSpPr>
        <p:spPr>
          <a:xfrm>
            <a:off x="548640" y="3186684"/>
            <a:ext cx="4389120" cy="169164"/>
          </a:xfrm>
          <a:prstGeom prst="rect">
            <a:avLst/>
          </a:prstGeom>
          <a:noFill/>
          <a:ln/>
        </p:spPr>
        <p:txBody>
          <a:bodyPr wrap="square" lIns="0" tIns="0" rIns="0" bIns="0" rtlCol="0" anchor="ctr"/>
          <a:lstStyle/>
          <a:p>
            <a:pPr indent="0" marL="0">
              <a:buNone/>
            </a:pPr>
            <a:r>
              <a:rPr lang="en-US" sz="950" dirty="0">
                <a:solidFill>
                  <a:srgbClr val="9B72CF"/>
                </a:solidFill>
                <a:latin typeface="Courier New" pitchFamily="34" charset="0"/>
                <a:ea typeface="Courier New" pitchFamily="34" charset="-122"/>
                <a:cs typeface="Courier New" pitchFamily="34" charset="-120"/>
              </a:rPr>
              <a:t>  @WebSocketServer()</a:t>
            </a:r>
            <a:endParaRPr lang="en-US" sz="950" dirty="0"/>
          </a:p>
        </p:txBody>
      </p:sp>
      <p:sp>
        <p:nvSpPr>
          <p:cNvPr id="17" name="Text 15"/>
          <p:cNvSpPr/>
          <p:nvPr/>
        </p:nvSpPr>
        <p:spPr>
          <a:xfrm>
            <a:off x="548640" y="3355848"/>
            <a:ext cx="4389120" cy="169164"/>
          </a:xfrm>
          <a:prstGeom prst="rect">
            <a:avLst/>
          </a:prstGeom>
          <a:noFill/>
          <a:ln/>
        </p:spPr>
        <p:txBody>
          <a:bodyPr wrap="square" lIns="0" tIns="0" rIns="0" bIns="0" rtlCol="0" anchor="ctr"/>
          <a:lstStyle/>
          <a:p>
            <a:pPr indent="0" marL="0">
              <a:buNone/>
            </a:pPr>
            <a:r>
              <a:rPr lang="en-US" sz="950" dirty="0">
                <a:solidFill>
                  <a:srgbClr val="E2F0EF"/>
                </a:solidFill>
                <a:latin typeface="Courier New" pitchFamily="34" charset="0"/>
                <a:ea typeface="Courier New" pitchFamily="34" charset="-122"/>
                <a:cs typeface="Courier New" pitchFamily="34" charset="-120"/>
              </a:rPr>
              <a:t>  server: Server;</a:t>
            </a:r>
            <a:endParaRPr lang="en-US" sz="950" dirty="0"/>
          </a:p>
        </p:txBody>
      </p:sp>
      <p:sp>
        <p:nvSpPr>
          <p:cNvPr id="18" name="Text 16"/>
          <p:cNvSpPr/>
          <p:nvPr/>
        </p:nvSpPr>
        <p:spPr>
          <a:xfrm>
            <a:off x="548640" y="3525012"/>
            <a:ext cx="4389120" cy="169164"/>
          </a:xfrm>
          <a:prstGeom prst="rect">
            <a:avLst/>
          </a:prstGeom>
          <a:noFill/>
          <a:ln/>
        </p:spPr>
        <p:txBody>
          <a:bodyPr wrap="square" lIns="0" tIns="0" rIns="0" bIns="0" rtlCol="0" anchor="ctr"/>
          <a:lstStyle/>
          <a:p>
            <a:pPr indent="0" marL="0">
              <a:buNone/>
            </a:pPr>
            <a:endParaRPr lang="en-US" sz="950" dirty="0"/>
          </a:p>
        </p:txBody>
      </p:sp>
      <p:sp>
        <p:nvSpPr>
          <p:cNvPr id="19" name="Text 17"/>
          <p:cNvSpPr/>
          <p:nvPr/>
        </p:nvSpPr>
        <p:spPr>
          <a:xfrm>
            <a:off x="548640" y="3694176"/>
            <a:ext cx="4389120" cy="169164"/>
          </a:xfrm>
          <a:prstGeom prst="rect">
            <a:avLst/>
          </a:prstGeom>
          <a:noFill/>
          <a:ln/>
        </p:spPr>
        <p:txBody>
          <a:bodyPr wrap="square" lIns="0" tIns="0" rIns="0" bIns="0" rtlCol="0" anchor="ctr"/>
          <a:lstStyle/>
          <a:p>
            <a:pPr indent="0" marL="0">
              <a:buNone/>
            </a:pPr>
            <a:r>
              <a:rPr lang="en-US" sz="950" dirty="0">
                <a:solidFill>
                  <a:srgbClr val="9B72CF"/>
                </a:solidFill>
                <a:latin typeface="Courier New" pitchFamily="34" charset="0"/>
                <a:ea typeface="Courier New" pitchFamily="34" charset="-122"/>
                <a:cs typeface="Courier New" pitchFamily="34" charset="-120"/>
              </a:rPr>
              <a:t>  @SubscribeMessage('join')</a:t>
            </a:r>
            <a:endParaRPr lang="en-US" sz="950" dirty="0"/>
          </a:p>
        </p:txBody>
      </p:sp>
      <p:sp>
        <p:nvSpPr>
          <p:cNvPr id="20" name="Text 18"/>
          <p:cNvSpPr/>
          <p:nvPr/>
        </p:nvSpPr>
        <p:spPr>
          <a:xfrm>
            <a:off x="548640" y="3863340"/>
            <a:ext cx="4389120" cy="169164"/>
          </a:xfrm>
          <a:prstGeom prst="rect">
            <a:avLst/>
          </a:prstGeom>
          <a:noFill/>
          <a:ln/>
        </p:spPr>
        <p:txBody>
          <a:bodyPr wrap="square" lIns="0" tIns="0" rIns="0" bIns="0" rtlCol="0" anchor="ctr"/>
          <a:lstStyle/>
          <a:p>
            <a:pPr indent="0" marL="0">
              <a:buNone/>
            </a:pPr>
            <a:r>
              <a:rPr lang="en-US" sz="950" dirty="0">
                <a:solidFill>
                  <a:srgbClr val="E2F0EF"/>
                </a:solidFill>
                <a:latin typeface="Courier New" pitchFamily="34" charset="0"/>
                <a:ea typeface="Courier New" pitchFamily="34" charset="-122"/>
                <a:cs typeface="Courier New" pitchFamily="34" charset="-120"/>
              </a:rPr>
              <a:t>  handleJoin(data: JoinDto){...}</a:t>
            </a:r>
            <a:endParaRPr lang="en-US" sz="950" dirty="0"/>
          </a:p>
        </p:txBody>
      </p:sp>
      <p:sp>
        <p:nvSpPr>
          <p:cNvPr id="21" name="Text 19"/>
          <p:cNvSpPr/>
          <p:nvPr/>
        </p:nvSpPr>
        <p:spPr>
          <a:xfrm>
            <a:off x="548640" y="4032504"/>
            <a:ext cx="4389120" cy="169164"/>
          </a:xfrm>
          <a:prstGeom prst="rect">
            <a:avLst/>
          </a:prstGeom>
          <a:noFill/>
          <a:ln/>
        </p:spPr>
        <p:txBody>
          <a:bodyPr wrap="square" lIns="0" tIns="0" rIns="0" bIns="0" rtlCol="0" anchor="ctr"/>
          <a:lstStyle/>
          <a:p>
            <a:pPr indent="0" marL="0">
              <a:buNone/>
            </a:pPr>
            <a:endParaRPr lang="en-US" sz="950" dirty="0"/>
          </a:p>
        </p:txBody>
      </p:sp>
      <p:sp>
        <p:nvSpPr>
          <p:cNvPr id="22" name="Text 20"/>
          <p:cNvSpPr/>
          <p:nvPr/>
        </p:nvSpPr>
        <p:spPr>
          <a:xfrm>
            <a:off x="548640" y="4201668"/>
            <a:ext cx="4389120" cy="169164"/>
          </a:xfrm>
          <a:prstGeom prst="rect">
            <a:avLst/>
          </a:prstGeom>
          <a:noFill/>
          <a:ln/>
        </p:spPr>
        <p:txBody>
          <a:bodyPr wrap="square" lIns="0" tIns="0" rIns="0" bIns="0" rtlCol="0" anchor="ctr"/>
          <a:lstStyle/>
          <a:p>
            <a:pPr indent="0" marL="0">
              <a:buNone/>
            </a:pPr>
            <a:r>
              <a:rPr lang="en-US" sz="950" dirty="0">
                <a:solidFill>
                  <a:srgbClr val="9B72CF"/>
                </a:solidFill>
                <a:latin typeface="Courier New" pitchFamily="34" charset="0"/>
                <a:ea typeface="Courier New" pitchFamily="34" charset="-122"/>
                <a:cs typeface="Courier New" pitchFamily="34" charset="-120"/>
              </a:rPr>
              <a:t>  @SubscribeMessage('sendMessage')</a:t>
            </a:r>
            <a:endParaRPr lang="en-US" sz="950" dirty="0"/>
          </a:p>
        </p:txBody>
      </p:sp>
      <p:sp>
        <p:nvSpPr>
          <p:cNvPr id="23" name="Text 21"/>
          <p:cNvSpPr/>
          <p:nvPr/>
        </p:nvSpPr>
        <p:spPr>
          <a:xfrm>
            <a:off x="548640" y="4370832"/>
            <a:ext cx="4389120" cy="169164"/>
          </a:xfrm>
          <a:prstGeom prst="rect">
            <a:avLst/>
          </a:prstGeom>
          <a:noFill/>
          <a:ln/>
        </p:spPr>
        <p:txBody>
          <a:bodyPr wrap="square" lIns="0" tIns="0" rIns="0" bIns="0" rtlCol="0" anchor="ctr"/>
          <a:lstStyle/>
          <a:p>
            <a:pPr indent="0" marL="0">
              <a:buNone/>
            </a:pPr>
            <a:r>
              <a:rPr lang="en-US" sz="950" dirty="0">
                <a:solidFill>
                  <a:srgbClr val="E2F0EF"/>
                </a:solidFill>
                <a:latin typeface="Courier New" pitchFamily="34" charset="0"/>
                <a:ea typeface="Courier New" pitchFamily="34" charset="-122"/>
                <a:cs typeface="Courier New" pitchFamily="34" charset="-120"/>
              </a:rPr>
              <a:t>  handleMessage(data: MessageDto){...}</a:t>
            </a:r>
            <a:endParaRPr lang="en-US" sz="950" dirty="0"/>
          </a:p>
        </p:txBody>
      </p:sp>
      <p:sp>
        <p:nvSpPr>
          <p:cNvPr id="24" name="Text 22"/>
          <p:cNvSpPr/>
          <p:nvPr/>
        </p:nvSpPr>
        <p:spPr>
          <a:xfrm>
            <a:off x="548640" y="4539996"/>
            <a:ext cx="4389120" cy="169164"/>
          </a:xfrm>
          <a:prstGeom prst="rect">
            <a:avLst/>
          </a:prstGeom>
          <a:noFill/>
          <a:ln/>
        </p:spPr>
        <p:txBody>
          <a:bodyPr wrap="square" lIns="0" tIns="0" rIns="0" bIns="0" rtlCol="0" anchor="ctr"/>
          <a:lstStyle/>
          <a:p>
            <a:pPr indent="0" marL="0">
              <a:buNone/>
            </a:pPr>
            <a:r>
              <a:rPr lang="en-US" sz="950" dirty="0">
                <a:solidFill>
                  <a:srgbClr val="00D4AA"/>
                </a:solidFill>
                <a:latin typeface="Courier New" pitchFamily="34" charset="0"/>
                <a:ea typeface="Courier New" pitchFamily="34" charset="-122"/>
                <a:cs typeface="Courier New" pitchFamily="34" charset="-120"/>
              </a:rPr>
              <a:t>}</a:t>
            </a:r>
            <a:endParaRPr lang="en-US" sz="950" dirty="0"/>
          </a:p>
        </p:txBody>
      </p:sp>
      <p:sp>
        <p:nvSpPr>
          <p:cNvPr id="25" name="Shape 23"/>
          <p:cNvSpPr/>
          <p:nvPr/>
        </p:nvSpPr>
        <p:spPr>
          <a:xfrm>
            <a:off x="5257800" y="1207008"/>
            <a:ext cx="3520440" cy="777240"/>
          </a:xfrm>
          <a:prstGeom prst="roundRect">
            <a:avLst>
              <a:gd name="adj" fmla="val 9412"/>
            </a:avLst>
          </a:prstGeom>
          <a:solidFill>
            <a:srgbClr val="0F1A1A"/>
          </a:solidFill>
          <a:ln w="12700">
            <a:solidFill>
              <a:srgbClr val="00D4AA"/>
            </a:solidFill>
            <a:prstDash val="solid"/>
          </a:ln>
          <a:effectLst>
            <a:outerShdw sx="100000" sy="100000" kx="0" ky="0" algn="bl" rotWithShape="0" blurRad="101600" dist="38100" dir="2700000">
              <a:srgbClr val="000000">
                <a:alpha val="35000"/>
              </a:srgbClr>
            </a:outerShdw>
          </a:effectLst>
        </p:spPr>
      </p:sp>
      <p:sp>
        <p:nvSpPr>
          <p:cNvPr id="26" name="Text 24"/>
          <p:cNvSpPr/>
          <p:nvPr/>
        </p:nvSpPr>
        <p:spPr>
          <a:xfrm>
            <a:off x="5413248" y="1252728"/>
            <a:ext cx="3200400" cy="274320"/>
          </a:xfrm>
          <a:prstGeom prst="rect">
            <a:avLst/>
          </a:prstGeom>
          <a:noFill/>
          <a:ln/>
        </p:spPr>
        <p:txBody>
          <a:bodyPr wrap="square" lIns="0" tIns="0" rIns="0" bIns="0" rtlCol="0" anchor="ctr"/>
          <a:lstStyle/>
          <a:p>
            <a:pPr indent="0" marL="0">
              <a:buNone/>
            </a:pPr>
            <a:r>
              <a:rPr lang="en-US" sz="1100" b="1" dirty="0">
                <a:solidFill>
                  <a:srgbClr val="00D4AA"/>
                </a:solidFill>
                <a:latin typeface="Courier New" pitchFamily="34" charset="0"/>
                <a:ea typeface="Courier New" pitchFamily="34" charset="-122"/>
                <a:cs typeface="Courier New" pitchFamily="34" charset="-120"/>
              </a:rPr>
              <a:t>@WebSocketGateway</a:t>
            </a:r>
            <a:endParaRPr lang="en-US" sz="1100" dirty="0"/>
          </a:p>
        </p:txBody>
      </p:sp>
      <p:sp>
        <p:nvSpPr>
          <p:cNvPr id="27" name="Text 25"/>
          <p:cNvSpPr/>
          <p:nvPr/>
        </p:nvSpPr>
        <p:spPr>
          <a:xfrm>
            <a:off x="5413248" y="1536192"/>
            <a:ext cx="3200400" cy="411480"/>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Declara que esta clase es un servidor de WebSockets. Recibe configuración de CORS para aceptar conexiones desde el frontend en :5173.</a:t>
            </a:r>
            <a:endParaRPr lang="en-US" sz="950" dirty="0"/>
          </a:p>
        </p:txBody>
      </p:sp>
      <p:sp>
        <p:nvSpPr>
          <p:cNvPr id="28" name="Shape 26"/>
          <p:cNvSpPr/>
          <p:nvPr/>
        </p:nvSpPr>
        <p:spPr>
          <a:xfrm>
            <a:off x="5257800" y="2075688"/>
            <a:ext cx="3520440" cy="777240"/>
          </a:xfrm>
          <a:prstGeom prst="roundRect">
            <a:avLst>
              <a:gd name="adj" fmla="val 9412"/>
            </a:avLst>
          </a:prstGeom>
          <a:solidFill>
            <a:srgbClr val="0F1A1A"/>
          </a:solidFill>
          <a:ln w="12700">
            <a:solidFill>
              <a:srgbClr val="9B72CF"/>
            </a:solidFill>
            <a:prstDash val="solid"/>
          </a:ln>
          <a:effectLst>
            <a:outerShdw sx="100000" sy="100000" kx="0" ky="0" algn="bl" rotWithShape="0" blurRad="101600" dist="38100" dir="2700000">
              <a:srgbClr val="000000">
                <a:alpha val="35000"/>
              </a:srgbClr>
            </a:outerShdw>
          </a:effectLst>
        </p:spPr>
      </p:sp>
      <p:sp>
        <p:nvSpPr>
          <p:cNvPr id="29" name="Text 27"/>
          <p:cNvSpPr/>
          <p:nvPr/>
        </p:nvSpPr>
        <p:spPr>
          <a:xfrm>
            <a:off x="5413248" y="2121408"/>
            <a:ext cx="3200400" cy="274320"/>
          </a:xfrm>
          <a:prstGeom prst="rect">
            <a:avLst/>
          </a:prstGeom>
          <a:noFill/>
          <a:ln/>
        </p:spPr>
        <p:txBody>
          <a:bodyPr wrap="square" lIns="0" tIns="0" rIns="0" bIns="0" rtlCol="0" anchor="ctr"/>
          <a:lstStyle/>
          <a:p>
            <a:pPr indent="0" marL="0">
              <a:buNone/>
            </a:pPr>
            <a:r>
              <a:rPr lang="en-US" sz="1100" b="1" dirty="0">
                <a:solidFill>
                  <a:srgbClr val="9B72CF"/>
                </a:solidFill>
                <a:latin typeface="Courier New" pitchFamily="34" charset="0"/>
                <a:ea typeface="Courier New" pitchFamily="34" charset="-122"/>
                <a:cs typeface="Courier New" pitchFamily="34" charset="-120"/>
              </a:rPr>
              <a:t>@WebSocketServer</a:t>
            </a:r>
            <a:endParaRPr lang="en-US" sz="1100" dirty="0"/>
          </a:p>
        </p:txBody>
      </p:sp>
      <p:sp>
        <p:nvSpPr>
          <p:cNvPr id="30" name="Text 28"/>
          <p:cNvSpPr/>
          <p:nvPr/>
        </p:nvSpPr>
        <p:spPr>
          <a:xfrm>
            <a:off x="5413248" y="2404872"/>
            <a:ext cx="3200400" cy="411480"/>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Inyecta la instancia del servidor Socket.IO. Se usa para hacer server.emit() y enviar eventos a todos los clientes.</a:t>
            </a:r>
            <a:endParaRPr lang="en-US" sz="950" dirty="0"/>
          </a:p>
        </p:txBody>
      </p:sp>
      <p:sp>
        <p:nvSpPr>
          <p:cNvPr id="31" name="Shape 29"/>
          <p:cNvSpPr/>
          <p:nvPr/>
        </p:nvSpPr>
        <p:spPr>
          <a:xfrm>
            <a:off x="5257800" y="2944368"/>
            <a:ext cx="3520440" cy="777240"/>
          </a:xfrm>
          <a:prstGeom prst="roundRect">
            <a:avLst>
              <a:gd name="adj" fmla="val 9412"/>
            </a:avLst>
          </a:prstGeom>
          <a:solidFill>
            <a:srgbClr val="0F1A1A"/>
          </a:solidFill>
          <a:ln w="12700">
            <a:solidFill>
              <a:srgbClr val="9B72CF"/>
            </a:solidFill>
            <a:prstDash val="solid"/>
          </a:ln>
          <a:effectLst>
            <a:outerShdw sx="100000" sy="100000" kx="0" ky="0" algn="bl" rotWithShape="0" blurRad="101600" dist="38100" dir="2700000">
              <a:srgbClr val="000000">
                <a:alpha val="35000"/>
              </a:srgbClr>
            </a:outerShdw>
          </a:effectLst>
        </p:spPr>
      </p:sp>
      <p:sp>
        <p:nvSpPr>
          <p:cNvPr id="32" name="Text 30"/>
          <p:cNvSpPr/>
          <p:nvPr/>
        </p:nvSpPr>
        <p:spPr>
          <a:xfrm>
            <a:off x="5413248" y="2990088"/>
            <a:ext cx="3200400" cy="274320"/>
          </a:xfrm>
          <a:prstGeom prst="rect">
            <a:avLst/>
          </a:prstGeom>
          <a:noFill/>
          <a:ln/>
        </p:spPr>
        <p:txBody>
          <a:bodyPr wrap="square" lIns="0" tIns="0" rIns="0" bIns="0" rtlCol="0" anchor="ctr"/>
          <a:lstStyle/>
          <a:p>
            <a:pPr indent="0" marL="0">
              <a:buNone/>
            </a:pPr>
            <a:r>
              <a:rPr lang="en-US" sz="1100" b="1" dirty="0">
                <a:solidFill>
                  <a:srgbClr val="9B72CF"/>
                </a:solidFill>
                <a:latin typeface="Courier New" pitchFamily="34" charset="0"/>
                <a:ea typeface="Courier New" pitchFamily="34" charset="-122"/>
                <a:cs typeface="Courier New" pitchFamily="34" charset="-120"/>
              </a:rPr>
              <a:t>@SubscribeMessage('evento')</a:t>
            </a:r>
            <a:endParaRPr lang="en-US" sz="1100" dirty="0"/>
          </a:p>
        </p:txBody>
      </p:sp>
      <p:sp>
        <p:nvSpPr>
          <p:cNvPr id="33" name="Text 31"/>
          <p:cNvSpPr/>
          <p:nvPr/>
        </p:nvSpPr>
        <p:spPr>
          <a:xfrm>
            <a:off x="5413248" y="3273552"/>
            <a:ext cx="3200400" cy="411480"/>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Equivale a @Get('/ruta'). Registra un listener para el evento 'join' o 'sendMessage'. Se dispara cada vez que un cliente emite ese evento.</a:t>
            </a:r>
            <a:endParaRPr lang="en-US" sz="950" dirty="0"/>
          </a:p>
        </p:txBody>
      </p:sp>
      <p:sp>
        <p:nvSpPr>
          <p:cNvPr id="34" name="Shape 32"/>
          <p:cNvSpPr/>
          <p:nvPr/>
        </p:nvSpPr>
        <p:spPr>
          <a:xfrm>
            <a:off x="5257800" y="3813048"/>
            <a:ext cx="3520440" cy="777240"/>
          </a:xfrm>
          <a:prstGeom prst="roundRect">
            <a:avLst>
              <a:gd name="adj" fmla="val 9412"/>
            </a:avLst>
          </a:prstGeom>
          <a:solidFill>
            <a:srgbClr val="0F1A1A"/>
          </a:solidFill>
          <a:ln w="12700">
            <a:solidFill>
              <a:srgbClr val="06D6A0"/>
            </a:solidFill>
            <a:prstDash val="solid"/>
          </a:ln>
          <a:effectLst>
            <a:outerShdw sx="100000" sy="100000" kx="0" ky="0" algn="bl" rotWithShape="0" blurRad="101600" dist="38100" dir="2700000">
              <a:srgbClr val="000000">
                <a:alpha val="35000"/>
              </a:srgbClr>
            </a:outerShdw>
          </a:effectLst>
        </p:spPr>
      </p:sp>
      <p:sp>
        <p:nvSpPr>
          <p:cNvPr id="35" name="Text 33"/>
          <p:cNvSpPr/>
          <p:nvPr/>
        </p:nvSpPr>
        <p:spPr>
          <a:xfrm>
            <a:off x="5413248" y="3858768"/>
            <a:ext cx="3200400" cy="274320"/>
          </a:xfrm>
          <a:prstGeom prst="rect">
            <a:avLst/>
          </a:prstGeom>
          <a:noFill/>
          <a:ln/>
        </p:spPr>
        <p:txBody>
          <a:bodyPr wrap="square" lIns="0" tIns="0" rIns="0" bIns="0" rtlCol="0" anchor="ctr"/>
          <a:lstStyle/>
          <a:p>
            <a:pPr indent="0" marL="0">
              <a:buNone/>
            </a:pPr>
            <a:r>
              <a:rPr lang="en-US" sz="1100" b="1" dirty="0">
                <a:solidFill>
                  <a:srgbClr val="06D6A0"/>
                </a:solidFill>
                <a:latin typeface="Courier New" pitchFamily="34" charset="0"/>
                <a:ea typeface="Courier New" pitchFamily="34" charset="-122"/>
                <a:cs typeface="Courier New" pitchFamily="34" charset="-120"/>
              </a:rPr>
              <a:t>OnGateway Connection/Disconnect</a:t>
            </a:r>
            <a:endParaRPr lang="en-US" sz="1100" dirty="0"/>
          </a:p>
        </p:txBody>
      </p:sp>
      <p:sp>
        <p:nvSpPr>
          <p:cNvPr id="36" name="Text 34"/>
          <p:cNvSpPr/>
          <p:nvPr/>
        </p:nvSpPr>
        <p:spPr>
          <a:xfrm>
            <a:off x="5413248" y="4142232"/>
            <a:ext cx="3200400" cy="411480"/>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Interfaces de ciclo de vida. handleConnection() y handleDisconnect() se invocan automáticamente al conectar o cerrar el navegador.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0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2900" b="1" dirty="0">
                <a:solidFill>
                  <a:srgbClr val="E2F0EF"/>
                </a:solidFill>
                <a:latin typeface="Cambria" pitchFamily="34" charset="0"/>
                <a:ea typeface="Cambria" pitchFamily="34" charset="-122"/>
                <a:cs typeface="Cambria" pitchFamily="34" charset="-120"/>
              </a:rPr>
              <a:t>ChatService — Estado en Memoria</a:t>
            </a:r>
            <a:endParaRPr lang="en-US" sz="2900" dirty="0"/>
          </a:p>
        </p:txBody>
      </p:sp>
      <p:sp>
        <p:nvSpPr>
          <p:cNvPr id="3" name="Shape 1"/>
          <p:cNvSpPr/>
          <p:nvPr/>
        </p:nvSpPr>
        <p:spPr>
          <a:xfrm>
            <a:off x="457200" y="841248"/>
            <a:ext cx="8229600" cy="0"/>
          </a:xfrm>
          <a:prstGeom prst="line">
            <a:avLst/>
          </a:prstGeom>
          <a:noFill/>
          <a:ln w="25400">
            <a:solidFill>
              <a:srgbClr val="00D4AA"/>
            </a:solidFill>
            <a:prstDash val="solid"/>
          </a:ln>
        </p:spPr>
      </p:sp>
      <p:sp>
        <p:nvSpPr>
          <p:cNvPr id="4" name="Shape 2"/>
          <p:cNvSpPr/>
          <p:nvPr/>
        </p:nvSpPr>
        <p:spPr>
          <a:xfrm>
            <a:off x="365760" y="987552"/>
            <a:ext cx="4114800" cy="3822192"/>
          </a:xfrm>
          <a:prstGeom prst="roundRect">
            <a:avLst>
              <a:gd name="adj" fmla="val 2392"/>
            </a:avLst>
          </a:prstGeom>
          <a:solidFill>
            <a:srgbClr val="0F1A1A"/>
          </a:solidFill>
          <a:ln w="19050">
            <a:solidFill>
              <a:srgbClr val="FFD16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548640" y="1060704"/>
            <a:ext cx="3749040" cy="320040"/>
          </a:xfrm>
          <a:prstGeom prst="rect">
            <a:avLst/>
          </a:prstGeom>
          <a:noFill/>
          <a:ln/>
        </p:spPr>
        <p:txBody>
          <a:bodyPr wrap="square" lIns="0" tIns="0" rIns="0" bIns="0" rtlCol="0" anchor="ctr"/>
          <a:lstStyle/>
          <a:p>
            <a:pPr indent="0" marL="0">
              <a:buNone/>
            </a:pPr>
            <a:r>
              <a:rPr lang="en-US" sz="1300" b="1" dirty="0">
                <a:solidFill>
                  <a:srgbClr val="FFD166"/>
                </a:solidFill>
                <a:latin typeface="Calibri" pitchFamily="34" charset="0"/>
                <a:ea typeface="Calibri" pitchFamily="34" charset="-122"/>
                <a:cs typeface="Calibri" pitchFamily="34" charset="-120"/>
              </a:rPr>
              <a:t>📄  chat.service.ts</a:t>
            </a:r>
            <a:endParaRPr lang="en-US" sz="1300" dirty="0"/>
          </a:p>
        </p:txBody>
      </p:sp>
      <p:sp>
        <p:nvSpPr>
          <p:cNvPr id="6" name="Text 4"/>
          <p:cNvSpPr/>
          <p:nvPr/>
        </p:nvSpPr>
        <p:spPr>
          <a:xfrm>
            <a:off x="548640" y="1463040"/>
            <a:ext cx="3749040" cy="242316"/>
          </a:xfrm>
          <a:prstGeom prst="rect">
            <a:avLst/>
          </a:prstGeom>
          <a:noFill/>
          <a:ln/>
        </p:spPr>
        <p:txBody>
          <a:bodyPr wrap="square" lIns="0" tIns="0" rIns="0" bIns="0" rtlCol="0" anchor="ctr"/>
          <a:lstStyle/>
          <a:p>
            <a:pPr indent="0" marL="0">
              <a:buNone/>
            </a:pPr>
            <a:r>
              <a:rPr lang="en-US" sz="1000" dirty="0">
                <a:solidFill>
                  <a:srgbClr val="9B72CF"/>
                </a:solidFill>
                <a:latin typeface="Courier New" pitchFamily="34" charset="0"/>
                <a:ea typeface="Courier New" pitchFamily="34" charset="-122"/>
                <a:cs typeface="Courier New" pitchFamily="34" charset="-120"/>
              </a:rPr>
              <a:t>@Injectable()</a:t>
            </a:r>
            <a:endParaRPr lang="en-US" sz="1000" dirty="0"/>
          </a:p>
        </p:txBody>
      </p:sp>
      <p:sp>
        <p:nvSpPr>
          <p:cNvPr id="7" name="Text 5"/>
          <p:cNvSpPr/>
          <p:nvPr/>
        </p:nvSpPr>
        <p:spPr>
          <a:xfrm>
            <a:off x="548640" y="1705356"/>
            <a:ext cx="3749040" cy="242316"/>
          </a:xfrm>
          <a:prstGeom prst="rect">
            <a:avLst/>
          </a:prstGeom>
          <a:noFill/>
          <a:ln/>
        </p:spPr>
        <p:txBody>
          <a:bodyPr wrap="square" lIns="0" tIns="0" rIns="0" bIns="0" rtlCol="0" anchor="ctr"/>
          <a:lstStyle/>
          <a:p>
            <a:pPr indent="0" marL="0">
              <a:buNone/>
            </a:pPr>
            <a:r>
              <a:rPr lang="en-US" sz="1000" dirty="0">
                <a:solidFill>
                  <a:srgbClr val="4A9FD4"/>
                </a:solidFill>
                <a:latin typeface="Courier New" pitchFamily="34" charset="0"/>
                <a:ea typeface="Courier New" pitchFamily="34" charset="-122"/>
                <a:cs typeface="Courier New" pitchFamily="34" charset="-120"/>
              </a:rPr>
              <a:t>export class ChatService {</a:t>
            </a:r>
            <a:endParaRPr lang="en-US" sz="1000" dirty="0"/>
          </a:p>
        </p:txBody>
      </p:sp>
      <p:sp>
        <p:nvSpPr>
          <p:cNvPr id="8" name="Text 6"/>
          <p:cNvSpPr/>
          <p:nvPr/>
        </p:nvSpPr>
        <p:spPr>
          <a:xfrm>
            <a:off x="548640" y="1947672"/>
            <a:ext cx="3749040" cy="242316"/>
          </a:xfrm>
          <a:prstGeom prst="rect">
            <a:avLst/>
          </a:prstGeom>
          <a:noFill/>
          <a:ln/>
        </p:spPr>
        <p:txBody>
          <a:bodyPr wrap="square" lIns="0" tIns="0" rIns="0" bIns="0" rtlCol="0" anchor="ctr"/>
          <a:lstStyle/>
          <a:p>
            <a:pPr indent="0" marL="0">
              <a:buNone/>
            </a:pPr>
            <a:endParaRPr lang="en-US" sz="1000" dirty="0"/>
          </a:p>
        </p:txBody>
      </p:sp>
      <p:sp>
        <p:nvSpPr>
          <p:cNvPr id="9" name="Text 7"/>
          <p:cNvSpPr/>
          <p:nvPr/>
        </p:nvSpPr>
        <p:spPr>
          <a:xfrm>
            <a:off x="548640" y="2189988"/>
            <a:ext cx="3749040" cy="242316"/>
          </a:xfrm>
          <a:prstGeom prst="rect">
            <a:avLst/>
          </a:prstGeom>
          <a:noFill/>
          <a:ln/>
        </p:spPr>
        <p:txBody>
          <a:bodyPr wrap="square" lIns="0" tIns="0" rIns="0" bIns="0" rtlCol="0" anchor="ctr"/>
          <a:lstStyle/>
          <a:p>
            <a:pPr indent="0" marL="0">
              <a:buNone/>
            </a:pPr>
            <a:r>
              <a:rPr lang="en-US" sz="1000" dirty="0">
                <a:solidFill>
                  <a:srgbClr val="E2F0EF"/>
                </a:solidFill>
                <a:latin typeface="Courier New" pitchFamily="34" charset="0"/>
                <a:ea typeface="Courier New" pitchFamily="34" charset="-122"/>
                <a:cs typeface="Courier New" pitchFamily="34" charset="-120"/>
              </a:rPr>
              <a:t>  private users: User[] = [];</a:t>
            </a:r>
            <a:endParaRPr lang="en-US" sz="1000" dirty="0"/>
          </a:p>
        </p:txBody>
      </p:sp>
      <p:sp>
        <p:nvSpPr>
          <p:cNvPr id="10" name="Text 8"/>
          <p:cNvSpPr/>
          <p:nvPr/>
        </p:nvSpPr>
        <p:spPr>
          <a:xfrm>
            <a:off x="548640" y="2432304"/>
            <a:ext cx="3749040" cy="242316"/>
          </a:xfrm>
          <a:prstGeom prst="rect">
            <a:avLst/>
          </a:prstGeom>
          <a:noFill/>
          <a:ln/>
        </p:spPr>
        <p:txBody>
          <a:bodyPr wrap="square" lIns="0" tIns="0" rIns="0" bIns="0" rtlCol="0" anchor="ctr"/>
          <a:lstStyle/>
          <a:p>
            <a:pPr indent="0" marL="0">
              <a:buNone/>
            </a:pPr>
            <a:r>
              <a:rPr lang="en-US" sz="1000" dirty="0">
                <a:solidFill>
                  <a:srgbClr val="E2F0EF"/>
                </a:solidFill>
                <a:latin typeface="Courier New" pitchFamily="34" charset="0"/>
                <a:ea typeface="Courier New" pitchFamily="34" charset="-122"/>
                <a:cs typeface="Courier New" pitchFamily="34" charset="-120"/>
              </a:rPr>
              <a:t>  private messages: Message[] = [];</a:t>
            </a:r>
            <a:endParaRPr lang="en-US" sz="1000" dirty="0"/>
          </a:p>
        </p:txBody>
      </p:sp>
      <p:sp>
        <p:nvSpPr>
          <p:cNvPr id="11" name="Text 9"/>
          <p:cNvSpPr/>
          <p:nvPr/>
        </p:nvSpPr>
        <p:spPr>
          <a:xfrm>
            <a:off x="548640" y="2674620"/>
            <a:ext cx="3749040" cy="242316"/>
          </a:xfrm>
          <a:prstGeom prst="rect">
            <a:avLst/>
          </a:prstGeom>
          <a:noFill/>
          <a:ln/>
        </p:spPr>
        <p:txBody>
          <a:bodyPr wrap="square" lIns="0" tIns="0" rIns="0" bIns="0" rtlCol="0" anchor="ctr"/>
          <a:lstStyle/>
          <a:p>
            <a:pPr indent="0" marL="0">
              <a:buNone/>
            </a:pPr>
            <a:endParaRPr lang="en-US" sz="1000" dirty="0"/>
          </a:p>
        </p:txBody>
      </p:sp>
      <p:sp>
        <p:nvSpPr>
          <p:cNvPr id="12" name="Text 10"/>
          <p:cNvSpPr/>
          <p:nvPr/>
        </p:nvSpPr>
        <p:spPr>
          <a:xfrm>
            <a:off x="548640" y="2916936"/>
            <a:ext cx="3749040" cy="242316"/>
          </a:xfrm>
          <a:prstGeom prst="rect">
            <a:avLst/>
          </a:prstGeom>
          <a:noFill/>
          <a:ln/>
        </p:spPr>
        <p:txBody>
          <a:bodyPr wrap="square" lIns="0" tIns="0" rIns="0" bIns="0" rtlCol="0" anchor="ctr"/>
          <a:lstStyle/>
          <a:p>
            <a:pPr indent="0" marL="0">
              <a:buNone/>
            </a:pPr>
            <a:r>
              <a:rPr lang="en-US" sz="1000" dirty="0">
                <a:solidFill>
                  <a:srgbClr val="00D4AA"/>
                </a:solidFill>
                <a:latin typeface="Courier New" pitchFamily="34" charset="0"/>
                <a:ea typeface="Courier New" pitchFamily="34" charset="-122"/>
                <a:cs typeface="Courier New" pitchFamily="34" charset="-120"/>
              </a:rPr>
              <a:t>  addUser(socketId, username) {...}</a:t>
            </a:r>
            <a:endParaRPr lang="en-US" sz="1000" dirty="0"/>
          </a:p>
        </p:txBody>
      </p:sp>
      <p:sp>
        <p:nvSpPr>
          <p:cNvPr id="13" name="Text 11"/>
          <p:cNvSpPr/>
          <p:nvPr/>
        </p:nvSpPr>
        <p:spPr>
          <a:xfrm>
            <a:off x="548640" y="3159252"/>
            <a:ext cx="3749040" cy="242316"/>
          </a:xfrm>
          <a:prstGeom prst="rect">
            <a:avLst/>
          </a:prstGeom>
          <a:noFill/>
          <a:ln/>
        </p:spPr>
        <p:txBody>
          <a:bodyPr wrap="square" lIns="0" tIns="0" rIns="0" bIns="0" rtlCol="0" anchor="ctr"/>
          <a:lstStyle/>
          <a:p>
            <a:pPr indent="0" marL="0">
              <a:buNone/>
            </a:pPr>
            <a:r>
              <a:rPr lang="en-US" sz="1000" dirty="0">
                <a:solidFill>
                  <a:srgbClr val="00D4AA"/>
                </a:solidFill>
                <a:latin typeface="Courier New" pitchFamily="34" charset="0"/>
                <a:ea typeface="Courier New" pitchFamily="34" charset="-122"/>
                <a:cs typeface="Courier New" pitchFamily="34" charset="-120"/>
              </a:rPr>
              <a:t>  removeUser(socketId) {...}</a:t>
            </a:r>
            <a:endParaRPr lang="en-US" sz="1000" dirty="0"/>
          </a:p>
        </p:txBody>
      </p:sp>
      <p:sp>
        <p:nvSpPr>
          <p:cNvPr id="14" name="Text 12"/>
          <p:cNvSpPr/>
          <p:nvPr/>
        </p:nvSpPr>
        <p:spPr>
          <a:xfrm>
            <a:off x="548640" y="3401568"/>
            <a:ext cx="3749040" cy="242316"/>
          </a:xfrm>
          <a:prstGeom prst="rect">
            <a:avLst/>
          </a:prstGeom>
          <a:noFill/>
          <a:ln/>
        </p:spPr>
        <p:txBody>
          <a:bodyPr wrap="square" lIns="0" tIns="0" rIns="0" bIns="0" rtlCol="0" anchor="ctr"/>
          <a:lstStyle/>
          <a:p>
            <a:pPr indent="0" marL="0">
              <a:buNone/>
            </a:pPr>
            <a:r>
              <a:rPr lang="en-US" sz="1000" dirty="0">
                <a:solidFill>
                  <a:srgbClr val="00D4AA"/>
                </a:solidFill>
                <a:latin typeface="Courier New" pitchFamily="34" charset="0"/>
                <a:ea typeface="Courier New" pitchFamily="34" charset="-122"/>
                <a:cs typeface="Courier New" pitchFamily="34" charset="-120"/>
              </a:rPr>
              <a:t>  getUsers(): User[] {...}</a:t>
            </a:r>
            <a:endParaRPr lang="en-US" sz="1000" dirty="0"/>
          </a:p>
        </p:txBody>
      </p:sp>
      <p:sp>
        <p:nvSpPr>
          <p:cNvPr id="15" name="Text 13"/>
          <p:cNvSpPr/>
          <p:nvPr/>
        </p:nvSpPr>
        <p:spPr>
          <a:xfrm>
            <a:off x="548640" y="3643884"/>
            <a:ext cx="3749040" cy="242316"/>
          </a:xfrm>
          <a:prstGeom prst="rect">
            <a:avLst/>
          </a:prstGeom>
          <a:noFill/>
          <a:ln/>
        </p:spPr>
        <p:txBody>
          <a:bodyPr wrap="square" lIns="0" tIns="0" rIns="0" bIns="0" rtlCol="0" anchor="ctr"/>
          <a:lstStyle/>
          <a:p>
            <a:pPr indent="0" marL="0">
              <a:buNone/>
            </a:pPr>
            <a:r>
              <a:rPr lang="en-US" sz="1000" dirty="0">
                <a:solidFill>
                  <a:srgbClr val="00D4AA"/>
                </a:solidFill>
                <a:latin typeface="Courier New" pitchFamily="34" charset="0"/>
                <a:ea typeface="Courier New" pitchFamily="34" charset="-122"/>
                <a:cs typeface="Courier New" pitchFamily="34" charset="-120"/>
              </a:rPr>
              <a:t>  addMessage(username, text) {...}</a:t>
            </a:r>
            <a:endParaRPr lang="en-US" sz="1000" dirty="0"/>
          </a:p>
        </p:txBody>
      </p:sp>
      <p:sp>
        <p:nvSpPr>
          <p:cNvPr id="16" name="Text 14"/>
          <p:cNvSpPr/>
          <p:nvPr/>
        </p:nvSpPr>
        <p:spPr>
          <a:xfrm>
            <a:off x="548640" y="3886200"/>
            <a:ext cx="3749040" cy="242316"/>
          </a:xfrm>
          <a:prstGeom prst="rect">
            <a:avLst/>
          </a:prstGeom>
          <a:noFill/>
          <a:ln/>
        </p:spPr>
        <p:txBody>
          <a:bodyPr wrap="square" lIns="0" tIns="0" rIns="0" bIns="0" rtlCol="0" anchor="ctr"/>
          <a:lstStyle/>
          <a:p>
            <a:pPr indent="0" marL="0">
              <a:buNone/>
            </a:pPr>
            <a:r>
              <a:rPr lang="en-US" sz="1000" dirty="0">
                <a:solidFill>
                  <a:srgbClr val="00D4AA"/>
                </a:solidFill>
                <a:latin typeface="Courier New" pitchFamily="34" charset="0"/>
                <a:ea typeface="Courier New" pitchFamily="34" charset="-122"/>
                <a:cs typeface="Courier New" pitchFamily="34" charset="-120"/>
              </a:rPr>
              <a:t>  getMessages(): Message[] {...}</a:t>
            </a:r>
            <a:endParaRPr lang="en-US" sz="1000" dirty="0"/>
          </a:p>
        </p:txBody>
      </p:sp>
      <p:sp>
        <p:nvSpPr>
          <p:cNvPr id="17" name="Text 15"/>
          <p:cNvSpPr/>
          <p:nvPr/>
        </p:nvSpPr>
        <p:spPr>
          <a:xfrm>
            <a:off x="548640" y="4128516"/>
            <a:ext cx="3749040" cy="242316"/>
          </a:xfrm>
          <a:prstGeom prst="rect">
            <a:avLst/>
          </a:prstGeom>
          <a:noFill/>
          <a:ln/>
        </p:spPr>
        <p:txBody>
          <a:bodyPr wrap="square" lIns="0" tIns="0" rIns="0" bIns="0" rtlCol="0" anchor="ctr"/>
          <a:lstStyle/>
          <a:p>
            <a:pPr indent="0" marL="0">
              <a:buNone/>
            </a:pPr>
            <a:r>
              <a:rPr lang="en-US" sz="1000" dirty="0">
                <a:solidFill>
                  <a:srgbClr val="4A9FD4"/>
                </a:solidFill>
                <a:latin typeface="Courier New" pitchFamily="34" charset="0"/>
                <a:ea typeface="Courier New" pitchFamily="34" charset="-122"/>
                <a:cs typeface="Courier New" pitchFamily="34" charset="-120"/>
              </a:rPr>
              <a:t>}</a:t>
            </a:r>
            <a:endParaRPr lang="en-US" sz="1000" dirty="0"/>
          </a:p>
        </p:txBody>
      </p:sp>
      <p:sp>
        <p:nvSpPr>
          <p:cNvPr id="18" name="Shape 16"/>
          <p:cNvSpPr/>
          <p:nvPr/>
        </p:nvSpPr>
        <p:spPr>
          <a:xfrm>
            <a:off x="4663440" y="987552"/>
            <a:ext cx="4114800" cy="1691640"/>
          </a:xfrm>
          <a:prstGeom prst="roundRect">
            <a:avLst>
              <a:gd name="adj" fmla="val 5405"/>
            </a:avLst>
          </a:prstGeom>
          <a:solidFill>
            <a:srgbClr val="0F1A1A"/>
          </a:solidFill>
          <a:ln w="19050">
            <a:solidFill>
              <a:srgbClr val="4A9FD4"/>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4846320" y="1060704"/>
            <a:ext cx="3749040" cy="320040"/>
          </a:xfrm>
          <a:prstGeom prst="rect">
            <a:avLst/>
          </a:prstGeom>
          <a:noFill/>
          <a:ln/>
        </p:spPr>
        <p:txBody>
          <a:bodyPr wrap="square" lIns="0" tIns="0" rIns="0" bIns="0" rtlCol="0" anchor="ctr"/>
          <a:lstStyle/>
          <a:p>
            <a:pPr indent="0" marL="0">
              <a:buNone/>
            </a:pPr>
            <a:r>
              <a:rPr lang="en-US" sz="1200" b="1" dirty="0">
                <a:solidFill>
                  <a:srgbClr val="4A9FD4"/>
                </a:solidFill>
                <a:latin typeface="Calibri" pitchFamily="34" charset="0"/>
                <a:ea typeface="Calibri" pitchFamily="34" charset="-122"/>
                <a:cs typeface="Calibri" pitchFamily="34" charset="-120"/>
              </a:rPr>
              <a:t>📋  DTOs — Contratos de Entrada</a:t>
            </a:r>
            <a:endParaRPr lang="en-US" sz="1200" dirty="0"/>
          </a:p>
        </p:txBody>
      </p:sp>
      <p:sp>
        <p:nvSpPr>
          <p:cNvPr id="20" name="Text 18"/>
          <p:cNvSpPr/>
          <p:nvPr/>
        </p:nvSpPr>
        <p:spPr>
          <a:xfrm>
            <a:off x="4846320" y="1444752"/>
            <a:ext cx="3749040" cy="384048"/>
          </a:xfrm>
          <a:prstGeom prst="rect">
            <a:avLst/>
          </a:prstGeom>
          <a:noFill/>
          <a:ln/>
        </p:spPr>
        <p:txBody>
          <a:bodyPr wrap="square" lIns="0" tIns="0" rIns="0" bIns="0" rtlCol="0" anchor="ctr"/>
          <a:lstStyle/>
          <a:p>
            <a:pPr indent="0" marL="0">
              <a:buNone/>
            </a:pPr>
            <a:r>
              <a:rPr lang="en-US" sz="1050" dirty="0">
                <a:solidFill>
                  <a:srgbClr val="7A9E9C"/>
                </a:solidFill>
                <a:latin typeface="Courier New" pitchFamily="34" charset="0"/>
                <a:ea typeface="Courier New" pitchFamily="34" charset="-122"/>
                <a:cs typeface="Courier New" pitchFamily="34" charset="-120"/>
              </a:rPr>
              <a:t>join.dto.ts  →  { username: string }</a:t>
            </a:r>
            <a:endParaRPr lang="en-US" sz="1050" dirty="0"/>
          </a:p>
        </p:txBody>
      </p:sp>
      <p:sp>
        <p:nvSpPr>
          <p:cNvPr id="21" name="Text 19"/>
          <p:cNvSpPr/>
          <p:nvPr/>
        </p:nvSpPr>
        <p:spPr>
          <a:xfrm>
            <a:off x="4846320" y="1920240"/>
            <a:ext cx="3749040" cy="384048"/>
          </a:xfrm>
          <a:prstGeom prst="rect">
            <a:avLst/>
          </a:prstGeom>
          <a:noFill/>
          <a:ln/>
        </p:spPr>
        <p:txBody>
          <a:bodyPr wrap="square" lIns="0" tIns="0" rIns="0" bIns="0" rtlCol="0" anchor="ctr"/>
          <a:lstStyle/>
          <a:p>
            <a:pPr indent="0" marL="0">
              <a:buNone/>
            </a:pPr>
            <a:r>
              <a:rPr lang="en-US" sz="1050" dirty="0">
                <a:solidFill>
                  <a:srgbClr val="7A9E9C"/>
                </a:solidFill>
                <a:latin typeface="Courier New" pitchFamily="34" charset="0"/>
                <a:ea typeface="Courier New" pitchFamily="34" charset="-122"/>
                <a:cs typeface="Courier New" pitchFamily="34" charset="-120"/>
              </a:rPr>
              <a:t>message.dto.ts  →  { username: string, text: string }</a:t>
            </a:r>
            <a:endParaRPr lang="en-US" sz="1050" dirty="0"/>
          </a:p>
        </p:txBody>
      </p:sp>
      <p:sp>
        <p:nvSpPr>
          <p:cNvPr id="22" name="Shape 20"/>
          <p:cNvSpPr/>
          <p:nvPr/>
        </p:nvSpPr>
        <p:spPr>
          <a:xfrm>
            <a:off x="4663440" y="2798064"/>
            <a:ext cx="4114800" cy="2011680"/>
          </a:xfrm>
          <a:prstGeom prst="roundRect">
            <a:avLst>
              <a:gd name="adj" fmla="val 4545"/>
            </a:avLst>
          </a:prstGeom>
          <a:solidFill>
            <a:srgbClr val="0F1A1A"/>
          </a:solidFill>
          <a:ln w="19050">
            <a:solidFill>
              <a:srgbClr val="00D4AA"/>
            </a:solidFill>
            <a:prstDash val="solid"/>
          </a:ln>
          <a:effectLst>
            <a:outerShdw sx="100000" sy="100000" kx="0" ky="0" algn="bl" rotWithShape="0" blurRad="101600" dist="38100" dir="2700000">
              <a:srgbClr val="000000">
                <a:alpha val="35000"/>
              </a:srgbClr>
            </a:outerShdw>
          </a:effectLst>
        </p:spPr>
      </p:sp>
      <p:sp>
        <p:nvSpPr>
          <p:cNvPr id="23" name="Text 21"/>
          <p:cNvSpPr/>
          <p:nvPr/>
        </p:nvSpPr>
        <p:spPr>
          <a:xfrm>
            <a:off x="4846320" y="2871216"/>
            <a:ext cx="3749040" cy="320040"/>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  Interfaces — Datos Internos</a:t>
            </a:r>
            <a:endParaRPr lang="en-US" sz="1200" dirty="0"/>
          </a:p>
        </p:txBody>
      </p:sp>
      <p:sp>
        <p:nvSpPr>
          <p:cNvPr id="24" name="Text 22"/>
          <p:cNvSpPr/>
          <p:nvPr/>
        </p:nvSpPr>
        <p:spPr>
          <a:xfrm>
            <a:off x="4846320" y="3273552"/>
            <a:ext cx="3749040" cy="256032"/>
          </a:xfrm>
          <a:prstGeom prst="rect">
            <a:avLst/>
          </a:prstGeom>
          <a:noFill/>
          <a:ln/>
        </p:spPr>
        <p:txBody>
          <a:bodyPr wrap="square" lIns="0" tIns="0" rIns="0" bIns="0" rtlCol="0" anchor="ctr"/>
          <a:lstStyle/>
          <a:p>
            <a:pPr indent="0" marL="0">
              <a:buNone/>
            </a:pPr>
            <a:r>
              <a:rPr lang="en-US" sz="1050" b="1" dirty="0">
                <a:solidFill>
                  <a:srgbClr val="00D4AA"/>
                </a:solidFill>
                <a:latin typeface="Courier New" pitchFamily="34" charset="0"/>
                <a:ea typeface="Courier New" pitchFamily="34" charset="-122"/>
                <a:cs typeface="Courier New" pitchFamily="34" charset="-120"/>
              </a:rPr>
              <a:t>user.interface.ts</a:t>
            </a:r>
            <a:endParaRPr lang="en-US" sz="1050" dirty="0"/>
          </a:p>
        </p:txBody>
      </p:sp>
      <p:sp>
        <p:nvSpPr>
          <p:cNvPr id="25" name="Text 23"/>
          <p:cNvSpPr/>
          <p:nvPr/>
        </p:nvSpPr>
        <p:spPr>
          <a:xfrm>
            <a:off x="4846320" y="3529584"/>
            <a:ext cx="3749040" cy="256032"/>
          </a:xfrm>
          <a:prstGeom prst="rect">
            <a:avLst/>
          </a:prstGeom>
          <a:noFill/>
          <a:ln/>
        </p:spPr>
        <p:txBody>
          <a:bodyPr wrap="square" lIns="0" tIns="0" rIns="0" bIns="0" rtlCol="0" anchor="ctr"/>
          <a:lstStyle/>
          <a:p>
            <a:pPr indent="0" marL="0">
              <a:buNone/>
            </a:pPr>
            <a:r>
              <a:rPr lang="en-US" sz="1000" dirty="0">
                <a:solidFill>
                  <a:srgbClr val="7A9E9C"/>
                </a:solidFill>
                <a:latin typeface="Courier New" pitchFamily="34" charset="0"/>
                <a:ea typeface="Courier New" pitchFamily="34" charset="-122"/>
                <a:cs typeface="Courier New" pitchFamily="34" charset="-120"/>
              </a:rPr>
              <a:t>{ socketId: string, username: string }</a:t>
            </a:r>
            <a:endParaRPr lang="en-US" sz="1000" dirty="0"/>
          </a:p>
        </p:txBody>
      </p:sp>
      <p:sp>
        <p:nvSpPr>
          <p:cNvPr id="26" name="Text 24"/>
          <p:cNvSpPr/>
          <p:nvPr/>
        </p:nvSpPr>
        <p:spPr>
          <a:xfrm>
            <a:off x="4846320" y="3986784"/>
            <a:ext cx="3749040" cy="256032"/>
          </a:xfrm>
          <a:prstGeom prst="rect">
            <a:avLst/>
          </a:prstGeom>
          <a:noFill/>
          <a:ln/>
        </p:spPr>
        <p:txBody>
          <a:bodyPr wrap="square" lIns="0" tIns="0" rIns="0" bIns="0" rtlCol="0" anchor="ctr"/>
          <a:lstStyle/>
          <a:p>
            <a:pPr indent="0" marL="0">
              <a:buNone/>
            </a:pPr>
            <a:r>
              <a:rPr lang="en-US" sz="1050" b="1" dirty="0">
                <a:solidFill>
                  <a:srgbClr val="00D4AA"/>
                </a:solidFill>
                <a:latin typeface="Courier New" pitchFamily="34" charset="0"/>
                <a:ea typeface="Courier New" pitchFamily="34" charset="-122"/>
                <a:cs typeface="Courier New" pitchFamily="34" charset="-120"/>
              </a:rPr>
              <a:t>message.interface.ts</a:t>
            </a:r>
            <a:endParaRPr lang="en-US" sz="1050" dirty="0"/>
          </a:p>
        </p:txBody>
      </p:sp>
      <p:sp>
        <p:nvSpPr>
          <p:cNvPr id="27" name="Text 25"/>
          <p:cNvSpPr/>
          <p:nvPr/>
        </p:nvSpPr>
        <p:spPr>
          <a:xfrm>
            <a:off x="4846320" y="4242816"/>
            <a:ext cx="3749040" cy="256032"/>
          </a:xfrm>
          <a:prstGeom prst="rect">
            <a:avLst/>
          </a:prstGeom>
          <a:noFill/>
          <a:ln/>
        </p:spPr>
        <p:txBody>
          <a:bodyPr wrap="square" lIns="0" tIns="0" rIns="0" bIns="0" rtlCol="0" anchor="ctr"/>
          <a:lstStyle/>
          <a:p>
            <a:pPr indent="0" marL="0">
              <a:buNone/>
            </a:pPr>
            <a:r>
              <a:rPr lang="en-US" sz="1000" dirty="0">
                <a:solidFill>
                  <a:srgbClr val="7A9E9C"/>
                </a:solidFill>
                <a:latin typeface="Courier New" pitchFamily="34" charset="0"/>
                <a:ea typeface="Courier New" pitchFamily="34" charset="-122"/>
                <a:cs typeface="Courier New" pitchFamily="34" charset="-120"/>
              </a:rPr>
              <a:t>{ username: string, text: string, time: string }</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0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2800" b="1" dirty="0">
                <a:solidFill>
                  <a:srgbClr val="E2F0EF"/>
                </a:solidFill>
                <a:latin typeface="Cambria" pitchFamily="34" charset="0"/>
                <a:ea typeface="Cambria" pitchFamily="34" charset="-122"/>
                <a:cs typeface="Cambria" pitchFamily="34" charset="-120"/>
              </a:rPr>
              <a:t>Frontend — Patrón useEffect + Socket</a:t>
            </a:r>
            <a:endParaRPr lang="en-US" sz="2800" dirty="0"/>
          </a:p>
        </p:txBody>
      </p:sp>
      <p:sp>
        <p:nvSpPr>
          <p:cNvPr id="3" name="Shape 1"/>
          <p:cNvSpPr/>
          <p:nvPr/>
        </p:nvSpPr>
        <p:spPr>
          <a:xfrm>
            <a:off x="457200" y="841248"/>
            <a:ext cx="8229600" cy="0"/>
          </a:xfrm>
          <a:prstGeom prst="line">
            <a:avLst/>
          </a:prstGeom>
          <a:noFill/>
          <a:ln w="25400">
            <a:solidFill>
              <a:srgbClr val="00D4AA"/>
            </a:solidFill>
            <a:prstDash val="solid"/>
          </a:ln>
        </p:spPr>
      </p:sp>
      <p:sp>
        <p:nvSpPr>
          <p:cNvPr id="4" name="Text 2"/>
          <p:cNvSpPr/>
          <p:nvPr/>
        </p:nvSpPr>
        <p:spPr>
          <a:xfrm>
            <a:off x="457200" y="914400"/>
            <a:ext cx="8229600" cy="256032"/>
          </a:xfrm>
          <a:prstGeom prst="rect">
            <a:avLst/>
          </a:prstGeom>
          <a:noFill/>
          <a:ln/>
        </p:spPr>
        <p:txBody>
          <a:bodyPr wrap="square" lIns="0" tIns="0" rIns="0" bIns="0" rtlCol="0" anchor="ctr"/>
          <a:lstStyle/>
          <a:p>
            <a:pPr indent="0" marL="0">
              <a:buNone/>
            </a:pPr>
            <a:r>
              <a:rPr lang="en-US" sz="1100" i="1" dirty="0">
                <a:solidFill>
                  <a:srgbClr val="7A9E9C"/>
                </a:solidFill>
                <a:latin typeface="Calibri" pitchFamily="34" charset="0"/>
                <a:ea typeface="Calibri" pitchFamily="34" charset="-122"/>
                <a:cs typeface="Calibri" pitchFamily="34" charset="-120"/>
              </a:rPr>
              <a:t>El patrón más didáctico del proyecto: cómo escuchar eventos WebSocket en React correctamente</a:t>
            </a:r>
            <a:endParaRPr lang="en-US" sz="1100" dirty="0"/>
          </a:p>
        </p:txBody>
      </p:sp>
      <p:sp>
        <p:nvSpPr>
          <p:cNvPr id="5" name="Shape 3"/>
          <p:cNvSpPr/>
          <p:nvPr/>
        </p:nvSpPr>
        <p:spPr>
          <a:xfrm>
            <a:off x="365760" y="1207008"/>
            <a:ext cx="4754880" cy="3657600"/>
          </a:xfrm>
          <a:prstGeom prst="roundRect">
            <a:avLst>
              <a:gd name="adj" fmla="val 2500"/>
            </a:avLst>
          </a:prstGeom>
          <a:solidFill>
            <a:srgbClr val="0F1A1A"/>
          </a:solidFill>
          <a:ln w="19050">
            <a:solidFill>
              <a:srgbClr val="4A9FD4"/>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548640" y="1280160"/>
            <a:ext cx="4389120" cy="320040"/>
          </a:xfrm>
          <a:prstGeom prst="rect">
            <a:avLst/>
          </a:prstGeom>
          <a:noFill/>
          <a:ln/>
        </p:spPr>
        <p:txBody>
          <a:bodyPr wrap="square" lIns="0" tIns="0" rIns="0" bIns="0" rtlCol="0" anchor="ctr"/>
          <a:lstStyle/>
          <a:p>
            <a:pPr indent="0" marL="0">
              <a:buNone/>
            </a:pPr>
            <a:r>
              <a:rPr lang="en-US" sz="1300" b="1" dirty="0">
                <a:solidFill>
                  <a:srgbClr val="4A9FD4"/>
                </a:solidFill>
                <a:latin typeface="Calibri" pitchFamily="34" charset="0"/>
                <a:ea typeface="Calibri" pitchFamily="34" charset="-122"/>
                <a:cs typeface="Calibri" pitchFamily="34" charset="-120"/>
              </a:rPr>
              <a:t>📄  Chat.tsx — useEffect</a:t>
            </a:r>
            <a:endParaRPr lang="en-US" sz="1300" dirty="0"/>
          </a:p>
        </p:txBody>
      </p:sp>
      <p:sp>
        <p:nvSpPr>
          <p:cNvPr id="7" name="Text 5"/>
          <p:cNvSpPr/>
          <p:nvPr/>
        </p:nvSpPr>
        <p:spPr>
          <a:xfrm>
            <a:off x="548640" y="1664208"/>
            <a:ext cx="4389120" cy="173736"/>
          </a:xfrm>
          <a:prstGeom prst="rect">
            <a:avLst/>
          </a:prstGeom>
          <a:noFill/>
          <a:ln/>
        </p:spPr>
        <p:txBody>
          <a:bodyPr wrap="square" lIns="0" tIns="0" rIns="0" bIns="0" rtlCol="0" anchor="ctr"/>
          <a:lstStyle/>
          <a:p>
            <a:pPr indent="0" marL="0">
              <a:buNone/>
            </a:pPr>
            <a:r>
              <a:rPr lang="en-US" sz="950" dirty="0">
                <a:solidFill>
                  <a:srgbClr val="00D4AA"/>
                </a:solidFill>
                <a:latin typeface="Courier New" pitchFamily="34" charset="0"/>
                <a:ea typeface="Courier New" pitchFamily="34" charset="-122"/>
                <a:cs typeface="Courier New" pitchFamily="34" charset="-120"/>
              </a:rPr>
              <a:t>useEffect(() =&gt; {</a:t>
            </a:r>
            <a:endParaRPr lang="en-US" sz="950" dirty="0"/>
          </a:p>
        </p:txBody>
      </p:sp>
      <p:sp>
        <p:nvSpPr>
          <p:cNvPr id="8" name="Text 6"/>
          <p:cNvSpPr/>
          <p:nvPr/>
        </p:nvSpPr>
        <p:spPr>
          <a:xfrm>
            <a:off x="548640" y="1837944"/>
            <a:ext cx="4389120" cy="173736"/>
          </a:xfrm>
          <a:prstGeom prst="rect">
            <a:avLst/>
          </a:prstGeom>
          <a:noFill/>
          <a:ln/>
        </p:spPr>
        <p:txBody>
          <a:bodyPr wrap="square" lIns="0" tIns="0" rIns="0" bIns="0" rtlCol="0" anchor="ctr"/>
          <a:lstStyle/>
          <a:p>
            <a:pPr indent="0" marL="0">
              <a:buNone/>
            </a:pPr>
            <a:endParaRPr lang="en-US" sz="950" dirty="0"/>
          </a:p>
        </p:txBody>
      </p:sp>
      <p:sp>
        <p:nvSpPr>
          <p:cNvPr id="9" name="Text 7"/>
          <p:cNvSpPr/>
          <p:nvPr/>
        </p:nvSpPr>
        <p:spPr>
          <a:xfrm>
            <a:off x="548640" y="2011680"/>
            <a:ext cx="4389120" cy="173736"/>
          </a:xfrm>
          <a:prstGeom prst="rect">
            <a:avLst/>
          </a:prstGeom>
          <a:noFill/>
          <a:ln/>
        </p:spPr>
        <p:txBody>
          <a:bodyPr wrap="square" lIns="0" tIns="0" rIns="0" bIns="0" rtlCol="0" anchor="ctr"/>
          <a:lstStyle/>
          <a:p>
            <a:pPr indent="0" marL="0">
              <a:buNone/>
            </a:pPr>
            <a:r>
              <a:rPr lang="en-US" sz="950" dirty="0">
                <a:solidFill>
                  <a:srgbClr val="7A9E9C"/>
                </a:solidFill>
                <a:latin typeface="Courier New" pitchFamily="34" charset="0"/>
                <a:ea typeface="Courier New" pitchFamily="34" charset="-122"/>
                <a:cs typeface="Courier New" pitchFamily="34" charset="-120"/>
              </a:rPr>
              <a:t>  // ① Suscribir a eventos</a:t>
            </a:r>
            <a:endParaRPr lang="en-US" sz="950" dirty="0"/>
          </a:p>
        </p:txBody>
      </p:sp>
      <p:sp>
        <p:nvSpPr>
          <p:cNvPr id="10" name="Text 8"/>
          <p:cNvSpPr/>
          <p:nvPr/>
        </p:nvSpPr>
        <p:spPr>
          <a:xfrm>
            <a:off x="548640" y="2185416"/>
            <a:ext cx="4389120" cy="173736"/>
          </a:xfrm>
          <a:prstGeom prst="rect">
            <a:avLst/>
          </a:prstGeom>
          <a:noFill/>
          <a:ln/>
        </p:spPr>
        <p:txBody>
          <a:bodyPr wrap="square" lIns="0" tIns="0" rIns="0" bIns="0" rtlCol="0" anchor="ctr"/>
          <a:lstStyle/>
          <a:p>
            <a:pPr indent="0" marL="0">
              <a:buNone/>
            </a:pPr>
            <a:r>
              <a:rPr lang="en-US" sz="950" dirty="0">
                <a:solidFill>
                  <a:srgbClr val="E2F0EF"/>
                </a:solidFill>
                <a:latin typeface="Courier New" pitchFamily="34" charset="0"/>
                <a:ea typeface="Courier New" pitchFamily="34" charset="-122"/>
                <a:cs typeface="Courier New" pitchFamily="34" charset="-120"/>
              </a:rPr>
              <a:t>  socket.on('newMessage',</a:t>
            </a:r>
            <a:endParaRPr lang="en-US" sz="950" dirty="0"/>
          </a:p>
        </p:txBody>
      </p:sp>
      <p:sp>
        <p:nvSpPr>
          <p:cNvPr id="11" name="Text 9"/>
          <p:cNvSpPr/>
          <p:nvPr/>
        </p:nvSpPr>
        <p:spPr>
          <a:xfrm>
            <a:off x="548640" y="2359152"/>
            <a:ext cx="4389120" cy="173736"/>
          </a:xfrm>
          <a:prstGeom prst="rect">
            <a:avLst/>
          </a:prstGeom>
          <a:noFill/>
          <a:ln/>
        </p:spPr>
        <p:txBody>
          <a:bodyPr wrap="square" lIns="0" tIns="0" rIns="0" bIns="0" rtlCol="0" anchor="ctr"/>
          <a:lstStyle/>
          <a:p>
            <a:pPr indent="0" marL="0">
              <a:buNone/>
            </a:pPr>
            <a:r>
              <a:rPr lang="en-US" sz="950" dirty="0">
                <a:solidFill>
                  <a:srgbClr val="E2F0EF"/>
                </a:solidFill>
                <a:latin typeface="Courier New" pitchFamily="34" charset="0"/>
                <a:ea typeface="Courier New" pitchFamily="34" charset="-122"/>
                <a:cs typeface="Courier New" pitchFamily="34" charset="-120"/>
              </a:rPr>
              <a:t>    (msg) =&gt; {</a:t>
            </a:r>
            <a:endParaRPr lang="en-US" sz="950" dirty="0"/>
          </a:p>
        </p:txBody>
      </p:sp>
      <p:sp>
        <p:nvSpPr>
          <p:cNvPr id="12" name="Text 10"/>
          <p:cNvSpPr/>
          <p:nvPr/>
        </p:nvSpPr>
        <p:spPr>
          <a:xfrm>
            <a:off x="548640" y="2532888"/>
            <a:ext cx="4389120" cy="173736"/>
          </a:xfrm>
          <a:prstGeom prst="rect">
            <a:avLst/>
          </a:prstGeom>
          <a:noFill/>
          <a:ln/>
        </p:spPr>
        <p:txBody>
          <a:bodyPr wrap="square" lIns="0" tIns="0" rIns="0" bIns="0" rtlCol="0" anchor="ctr"/>
          <a:lstStyle/>
          <a:p>
            <a:pPr indent="0" marL="0">
              <a:buNone/>
            </a:pPr>
            <a:r>
              <a:rPr lang="en-US" sz="950" dirty="0">
                <a:solidFill>
                  <a:srgbClr val="06D6A0"/>
                </a:solidFill>
                <a:latin typeface="Courier New" pitchFamily="34" charset="0"/>
                <a:ea typeface="Courier New" pitchFamily="34" charset="-122"/>
                <a:cs typeface="Courier New" pitchFamily="34" charset="-120"/>
              </a:rPr>
              <a:t>      setMessages(prev =&gt;</a:t>
            </a:r>
            <a:endParaRPr lang="en-US" sz="950" dirty="0"/>
          </a:p>
        </p:txBody>
      </p:sp>
      <p:sp>
        <p:nvSpPr>
          <p:cNvPr id="13" name="Text 11"/>
          <p:cNvSpPr/>
          <p:nvPr/>
        </p:nvSpPr>
        <p:spPr>
          <a:xfrm>
            <a:off x="548640" y="2706624"/>
            <a:ext cx="4389120" cy="173736"/>
          </a:xfrm>
          <a:prstGeom prst="rect">
            <a:avLst/>
          </a:prstGeom>
          <a:noFill/>
          <a:ln/>
        </p:spPr>
        <p:txBody>
          <a:bodyPr wrap="square" lIns="0" tIns="0" rIns="0" bIns="0" rtlCol="0" anchor="ctr"/>
          <a:lstStyle/>
          <a:p>
            <a:pPr indent="0" marL="0">
              <a:buNone/>
            </a:pPr>
            <a:r>
              <a:rPr lang="en-US" sz="950" dirty="0">
                <a:solidFill>
                  <a:srgbClr val="06D6A0"/>
                </a:solidFill>
                <a:latin typeface="Courier New" pitchFamily="34" charset="0"/>
                <a:ea typeface="Courier New" pitchFamily="34" charset="-122"/>
                <a:cs typeface="Courier New" pitchFamily="34" charset="-120"/>
              </a:rPr>
              <a:t>        [...prev, msg]);</a:t>
            </a:r>
            <a:endParaRPr lang="en-US" sz="950" dirty="0"/>
          </a:p>
        </p:txBody>
      </p:sp>
      <p:sp>
        <p:nvSpPr>
          <p:cNvPr id="14" name="Text 12"/>
          <p:cNvSpPr/>
          <p:nvPr/>
        </p:nvSpPr>
        <p:spPr>
          <a:xfrm>
            <a:off x="548640" y="2880360"/>
            <a:ext cx="4389120" cy="173736"/>
          </a:xfrm>
          <a:prstGeom prst="rect">
            <a:avLst/>
          </a:prstGeom>
          <a:noFill/>
          <a:ln/>
        </p:spPr>
        <p:txBody>
          <a:bodyPr wrap="square" lIns="0" tIns="0" rIns="0" bIns="0" rtlCol="0" anchor="ctr"/>
          <a:lstStyle/>
          <a:p>
            <a:pPr indent="0" marL="0">
              <a:buNone/>
            </a:pPr>
            <a:r>
              <a:rPr lang="en-US" sz="950" dirty="0">
                <a:solidFill>
                  <a:srgbClr val="E2F0EF"/>
                </a:solidFill>
                <a:latin typeface="Courier New" pitchFamily="34" charset="0"/>
                <a:ea typeface="Courier New" pitchFamily="34" charset="-122"/>
                <a:cs typeface="Courier New" pitchFamily="34" charset="-120"/>
              </a:rPr>
              <a:t>  });</a:t>
            </a:r>
            <a:endParaRPr lang="en-US" sz="950" dirty="0"/>
          </a:p>
        </p:txBody>
      </p:sp>
      <p:sp>
        <p:nvSpPr>
          <p:cNvPr id="15" name="Text 13"/>
          <p:cNvSpPr/>
          <p:nvPr/>
        </p:nvSpPr>
        <p:spPr>
          <a:xfrm>
            <a:off x="548640" y="3054096"/>
            <a:ext cx="4389120" cy="173736"/>
          </a:xfrm>
          <a:prstGeom prst="rect">
            <a:avLst/>
          </a:prstGeom>
          <a:noFill/>
          <a:ln/>
        </p:spPr>
        <p:txBody>
          <a:bodyPr wrap="square" lIns="0" tIns="0" rIns="0" bIns="0" rtlCol="0" anchor="ctr"/>
          <a:lstStyle/>
          <a:p>
            <a:pPr indent="0" marL="0">
              <a:buNone/>
            </a:pPr>
            <a:endParaRPr lang="en-US" sz="950" dirty="0"/>
          </a:p>
        </p:txBody>
      </p:sp>
      <p:sp>
        <p:nvSpPr>
          <p:cNvPr id="16" name="Text 14"/>
          <p:cNvSpPr/>
          <p:nvPr/>
        </p:nvSpPr>
        <p:spPr>
          <a:xfrm>
            <a:off x="548640" y="3227832"/>
            <a:ext cx="4389120" cy="173736"/>
          </a:xfrm>
          <a:prstGeom prst="rect">
            <a:avLst/>
          </a:prstGeom>
          <a:noFill/>
          <a:ln/>
        </p:spPr>
        <p:txBody>
          <a:bodyPr wrap="square" lIns="0" tIns="0" rIns="0" bIns="0" rtlCol="0" anchor="ctr"/>
          <a:lstStyle/>
          <a:p>
            <a:pPr indent="0" marL="0">
              <a:buNone/>
            </a:pPr>
            <a:r>
              <a:rPr lang="en-US" sz="950" dirty="0">
                <a:solidFill>
                  <a:srgbClr val="E2F0EF"/>
                </a:solidFill>
                <a:latin typeface="Courier New" pitchFamily="34" charset="0"/>
                <a:ea typeface="Courier New" pitchFamily="34" charset="-122"/>
                <a:cs typeface="Courier New" pitchFamily="34" charset="-120"/>
              </a:rPr>
              <a:t>  socket.on('users',</a:t>
            </a:r>
            <a:endParaRPr lang="en-US" sz="950" dirty="0"/>
          </a:p>
        </p:txBody>
      </p:sp>
      <p:sp>
        <p:nvSpPr>
          <p:cNvPr id="17" name="Text 15"/>
          <p:cNvSpPr/>
          <p:nvPr/>
        </p:nvSpPr>
        <p:spPr>
          <a:xfrm>
            <a:off x="548640" y="3401568"/>
            <a:ext cx="4389120" cy="173736"/>
          </a:xfrm>
          <a:prstGeom prst="rect">
            <a:avLst/>
          </a:prstGeom>
          <a:noFill/>
          <a:ln/>
        </p:spPr>
        <p:txBody>
          <a:bodyPr wrap="square" lIns="0" tIns="0" rIns="0" bIns="0" rtlCol="0" anchor="ctr"/>
          <a:lstStyle/>
          <a:p>
            <a:pPr indent="0" marL="0">
              <a:buNone/>
            </a:pPr>
            <a:r>
              <a:rPr lang="en-US" sz="950" dirty="0">
                <a:solidFill>
                  <a:srgbClr val="06D6A0"/>
                </a:solidFill>
                <a:latin typeface="Courier New" pitchFamily="34" charset="0"/>
                <a:ea typeface="Courier New" pitchFamily="34" charset="-122"/>
                <a:cs typeface="Courier New" pitchFamily="34" charset="-120"/>
              </a:rPr>
              <a:t>    (list) =&gt; setUsers(list));</a:t>
            </a:r>
            <a:endParaRPr lang="en-US" sz="950" dirty="0"/>
          </a:p>
        </p:txBody>
      </p:sp>
      <p:sp>
        <p:nvSpPr>
          <p:cNvPr id="18" name="Text 16"/>
          <p:cNvSpPr/>
          <p:nvPr/>
        </p:nvSpPr>
        <p:spPr>
          <a:xfrm>
            <a:off x="548640" y="3575304"/>
            <a:ext cx="4389120" cy="173736"/>
          </a:xfrm>
          <a:prstGeom prst="rect">
            <a:avLst/>
          </a:prstGeom>
          <a:noFill/>
          <a:ln/>
        </p:spPr>
        <p:txBody>
          <a:bodyPr wrap="square" lIns="0" tIns="0" rIns="0" bIns="0" rtlCol="0" anchor="ctr"/>
          <a:lstStyle/>
          <a:p>
            <a:pPr indent="0" marL="0">
              <a:buNone/>
            </a:pPr>
            <a:endParaRPr lang="en-US" sz="950" dirty="0"/>
          </a:p>
        </p:txBody>
      </p:sp>
      <p:sp>
        <p:nvSpPr>
          <p:cNvPr id="19" name="Text 17"/>
          <p:cNvSpPr/>
          <p:nvPr/>
        </p:nvSpPr>
        <p:spPr>
          <a:xfrm>
            <a:off x="548640" y="3749040"/>
            <a:ext cx="4389120" cy="173736"/>
          </a:xfrm>
          <a:prstGeom prst="rect">
            <a:avLst/>
          </a:prstGeom>
          <a:noFill/>
          <a:ln/>
        </p:spPr>
        <p:txBody>
          <a:bodyPr wrap="square" lIns="0" tIns="0" rIns="0" bIns="0" rtlCol="0" anchor="ctr"/>
          <a:lstStyle/>
          <a:p>
            <a:pPr indent="0" marL="0">
              <a:buNone/>
            </a:pPr>
            <a:r>
              <a:rPr lang="en-US" sz="950" dirty="0">
                <a:solidFill>
                  <a:srgbClr val="7A9E9C"/>
                </a:solidFill>
                <a:latin typeface="Courier New" pitchFamily="34" charset="0"/>
                <a:ea typeface="Courier New" pitchFamily="34" charset="-122"/>
                <a:cs typeface="Courier New" pitchFamily="34" charset="-120"/>
              </a:rPr>
              <a:t>  // ② Cleanup al desmontar</a:t>
            </a:r>
            <a:endParaRPr lang="en-US" sz="950" dirty="0"/>
          </a:p>
        </p:txBody>
      </p:sp>
      <p:sp>
        <p:nvSpPr>
          <p:cNvPr id="20" name="Text 18"/>
          <p:cNvSpPr/>
          <p:nvPr/>
        </p:nvSpPr>
        <p:spPr>
          <a:xfrm>
            <a:off x="548640" y="3922776"/>
            <a:ext cx="4389120" cy="173736"/>
          </a:xfrm>
          <a:prstGeom prst="rect">
            <a:avLst/>
          </a:prstGeom>
          <a:noFill/>
          <a:ln/>
        </p:spPr>
        <p:txBody>
          <a:bodyPr wrap="square" lIns="0" tIns="0" rIns="0" bIns="0" rtlCol="0" anchor="ctr"/>
          <a:lstStyle/>
          <a:p>
            <a:pPr indent="0" marL="0">
              <a:buNone/>
            </a:pPr>
            <a:r>
              <a:rPr lang="en-US" sz="950" dirty="0">
                <a:solidFill>
                  <a:srgbClr val="00D4AA"/>
                </a:solidFill>
                <a:latin typeface="Courier New" pitchFamily="34" charset="0"/>
                <a:ea typeface="Courier New" pitchFamily="34" charset="-122"/>
                <a:cs typeface="Courier New" pitchFamily="34" charset="-120"/>
              </a:rPr>
              <a:t>  return () =&gt; {</a:t>
            </a:r>
            <a:endParaRPr lang="en-US" sz="950" dirty="0"/>
          </a:p>
        </p:txBody>
      </p:sp>
      <p:sp>
        <p:nvSpPr>
          <p:cNvPr id="21" name="Text 19"/>
          <p:cNvSpPr/>
          <p:nvPr/>
        </p:nvSpPr>
        <p:spPr>
          <a:xfrm>
            <a:off x="548640" y="4096512"/>
            <a:ext cx="4389120" cy="173736"/>
          </a:xfrm>
          <a:prstGeom prst="rect">
            <a:avLst/>
          </a:prstGeom>
          <a:noFill/>
          <a:ln/>
        </p:spPr>
        <p:txBody>
          <a:bodyPr wrap="square" lIns="0" tIns="0" rIns="0" bIns="0" rtlCol="0" anchor="ctr"/>
          <a:lstStyle/>
          <a:p>
            <a:pPr indent="0" marL="0">
              <a:buNone/>
            </a:pPr>
            <a:r>
              <a:rPr lang="en-US" sz="950" dirty="0">
                <a:solidFill>
                  <a:srgbClr val="FF6B6B"/>
                </a:solidFill>
                <a:latin typeface="Courier New" pitchFamily="34" charset="0"/>
                <a:ea typeface="Courier New" pitchFamily="34" charset="-122"/>
                <a:cs typeface="Courier New" pitchFamily="34" charset="-120"/>
              </a:rPr>
              <a:t>    socket.off('newMessage');</a:t>
            </a:r>
            <a:endParaRPr lang="en-US" sz="950" dirty="0"/>
          </a:p>
        </p:txBody>
      </p:sp>
      <p:sp>
        <p:nvSpPr>
          <p:cNvPr id="22" name="Text 20"/>
          <p:cNvSpPr/>
          <p:nvPr/>
        </p:nvSpPr>
        <p:spPr>
          <a:xfrm>
            <a:off x="548640" y="4270248"/>
            <a:ext cx="4389120" cy="173736"/>
          </a:xfrm>
          <a:prstGeom prst="rect">
            <a:avLst/>
          </a:prstGeom>
          <a:noFill/>
          <a:ln/>
        </p:spPr>
        <p:txBody>
          <a:bodyPr wrap="square" lIns="0" tIns="0" rIns="0" bIns="0" rtlCol="0" anchor="ctr"/>
          <a:lstStyle/>
          <a:p>
            <a:pPr indent="0" marL="0">
              <a:buNone/>
            </a:pPr>
            <a:r>
              <a:rPr lang="en-US" sz="950" dirty="0">
                <a:solidFill>
                  <a:srgbClr val="FF6B6B"/>
                </a:solidFill>
                <a:latin typeface="Courier New" pitchFamily="34" charset="0"/>
                <a:ea typeface="Courier New" pitchFamily="34" charset="-122"/>
                <a:cs typeface="Courier New" pitchFamily="34" charset="-120"/>
              </a:rPr>
              <a:t>    socket.off('users');</a:t>
            </a:r>
            <a:endParaRPr lang="en-US" sz="950" dirty="0"/>
          </a:p>
        </p:txBody>
      </p:sp>
      <p:sp>
        <p:nvSpPr>
          <p:cNvPr id="23" name="Text 21"/>
          <p:cNvSpPr/>
          <p:nvPr/>
        </p:nvSpPr>
        <p:spPr>
          <a:xfrm>
            <a:off x="548640" y="4443984"/>
            <a:ext cx="4389120" cy="173736"/>
          </a:xfrm>
          <a:prstGeom prst="rect">
            <a:avLst/>
          </a:prstGeom>
          <a:noFill/>
          <a:ln/>
        </p:spPr>
        <p:txBody>
          <a:bodyPr wrap="square" lIns="0" tIns="0" rIns="0" bIns="0" rtlCol="0" anchor="ctr"/>
          <a:lstStyle/>
          <a:p>
            <a:pPr indent="0" marL="0">
              <a:buNone/>
            </a:pPr>
            <a:r>
              <a:rPr lang="en-US" sz="950" dirty="0">
                <a:solidFill>
                  <a:srgbClr val="00D4AA"/>
                </a:solidFill>
                <a:latin typeface="Courier New" pitchFamily="34" charset="0"/>
                <a:ea typeface="Courier New" pitchFamily="34" charset="-122"/>
                <a:cs typeface="Courier New" pitchFamily="34" charset="-120"/>
              </a:rPr>
              <a:t>  };</a:t>
            </a:r>
            <a:endParaRPr lang="en-US" sz="950" dirty="0"/>
          </a:p>
        </p:txBody>
      </p:sp>
      <p:sp>
        <p:nvSpPr>
          <p:cNvPr id="24" name="Text 22"/>
          <p:cNvSpPr/>
          <p:nvPr/>
        </p:nvSpPr>
        <p:spPr>
          <a:xfrm>
            <a:off x="548640" y="4617720"/>
            <a:ext cx="4389120" cy="173736"/>
          </a:xfrm>
          <a:prstGeom prst="rect">
            <a:avLst/>
          </a:prstGeom>
          <a:noFill/>
          <a:ln/>
        </p:spPr>
        <p:txBody>
          <a:bodyPr wrap="square" lIns="0" tIns="0" rIns="0" bIns="0" rtlCol="0" anchor="ctr"/>
          <a:lstStyle/>
          <a:p>
            <a:pPr indent="0" marL="0">
              <a:buNone/>
            </a:pPr>
            <a:r>
              <a:rPr lang="en-US" sz="950" dirty="0">
                <a:solidFill>
                  <a:srgbClr val="7A9E9C"/>
                </a:solidFill>
                <a:latin typeface="Courier New" pitchFamily="34" charset="0"/>
                <a:ea typeface="Courier New" pitchFamily="34" charset="-122"/>
                <a:cs typeface="Courier New" pitchFamily="34" charset="-120"/>
              </a:rPr>
              <a:t>}, []);  // solo al montar</a:t>
            </a:r>
            <a:endParaRPr lang="en-US" sz="950" dirty="0"/>
          </a:p>
        </p:txBody>
      </p:sp>
      <p:sp>
        <p:nvSpPr>
          <p:cNvPr id="25" name="Shape 23"/>
          <p:cNvSpPr/>
          <p:nvPr/>
        </p:nvSpPr>
        <p:spPr>
          <a:xfrm>
            <a:off x="5257800" y="1207008"/>
            <a:ext cx="3520440" cy="777240"/>
          </a:xfrm>
          <a:prstGeom prst="roundRect">
            <a:avLst>
              <a:gd name="adj" fmla="val 9412"/>
            </a:avLst>
          </a:prstGeom>
          <a:solidFill>
            <a:srgbClr val="0F1A1A"/>
          </a:solidFill>
          <a:ln w="12700">
            <a:solidFill>
              <a:srgbClr val="06D6A0"/>
            </a:solidFill>
            <a:prstDash val="solid"/>
          </a:ln>
          <a:effectLst>
            <a:outerShdw sx="100000" sy="100000" kx="0" ky="0" algn="bl" rotWithShape="0" blurRad="101600" dist="38100" dir="2700000">
              <a:srgbClr val="000000">
                <a:alpha val="35000"/>
              </a:srgbClr>
            </a:outerShdw>
          </a:effectLst>
        </p:spPr>
      </p:sp>
      <p:sp>
        <p:nvSpPr>
          <p:cNvPr id="26" name="Shape 24"/>
          <p:cNvSpPr/>
          <p:nvPr/>
        </p:nvSpPr>
        <p:spPr>
          <a:xfrm>
            <a:off x="5376672" y="1261872"/>
            <a:ext cx="256032" cy="256032"/>
          </a:xfrm>
          <a:prstGeom prst="ellipse">
            <a:avLst/>
          </a:prstGeom>
          <a:solidFill>
            <a:srgbClr val="06D6A0"/>
          </a:solidFill>
          <a:ln w="12700">
            <a:solidFill>
              <a:srgbClr val="06D6A0"/>
            </a:solidFill>
            <a:prstDash val="solid"/>
          </a:ln>
        </p:spPr>
      </p:sp>
      <p:sp>
        <p:nvSpPr>
          <p:cNvPr id="27" name="Text 25"/>
          <p:cNvSpPr/>
          <p:nvPr/>
        </p:nvSpPr>
        <p:spPr>
          <a:xfrm>
            <a:off x="5376672" y="1261872"/>
            <a:ext cx="256032" cy="256032"/>
          </a:xfrm>
          <a:prstGeom prst="rect">
            <a:avLst/>
          </a:prstGeom>
          <a:noFill/>
          <a:ln/>
        </p:spPr>
        <p:txBody>
          <a:bodyPr wrap="square" lIns="0" tIns="0" rIns="0" bIns="0" rtlCol="0" anchor="ctr"/>
          <a:lstStyle/>
          <a:p>
            <a:pPr algn="ctr" indent="0" marL="0">
              <a:buNone/>
            </a:pPr>
            <a:r>
              <a:rPr lang="en-US" sz="900" b="1" dirty="0">
                <a:solidFill>
                  <a:srgbClr val="0A0F0F"/>
                </a:solidFill>
                <a:latin typeface="Calibri" pitchFamily="34" charset="0"/>
                <a:ea typeface="Calibri" pitchFamily="34" charset="-122"/>
                <a:cs typeface="Calibri" pitchFamily="34" charset="-120"/>
              </a:rPr>
              <a:t>①</a:t>
            </a:r>
            <a:endParaRPr lang="en-US" sz="900" dirty="0"/>
          </a:p>
        </p:txBody>
      </p:sp>
      <p:sp>
        <p:nvSpPr>
          <p:cNvPr id="28" name="Text 26"/>
          <p:cNvSpPr/>
          <p:nvPr/>
        </p:nvSpPr>
        <p:spPr>
          <a:xfrm>
            <a:off x="5687568" y="1261872"/>
            <a:ext cx="2971800" cy="256032"/>
          </a:xfrm>
          <a:prstGeom prst="rect">
            <a:avLst/>
          </a:prstGeom>
          <a:noFill/>
          <a:ln/>
        </p:spPr>
        <p:txBody>
          <a:bodyPr wrap="square" lIns="0" tIns="0" rIns="0" bIns="0" rtlCol="0" anchor="ctr"/>
          <a:lstStyle/>
          <a:p>
            <a:pPr indent="0" marL="0">
              <a:buNone/>
            </a:pPr>
            <a:r>
              <a:rPr lang="en-US" sz="1100" b="1" dirty="0">
                <a:solidFill>
                  <a:srgbClr val="06D6A0"/>
                </a:solidFill>
                <a:latin typeface="Calibri" pitchFamily="34" charset="0"/>
                <a:ea typeface="Calibri" pitchFamily="34" charset="-122"/>
                <a:cs typeface="Calibri" pitchFamily="34" charset="-120"/>
              </a:rPr>
              <a:t>socket.on() — Suscribir</a:t>
            </a:r>
            <a:endParaRPr lang="en-US" sz="1100" dirty="0"/>
          </a:p>
        </p:txBody>
      </p:sp>
      <p:sp>
        <p:nvSpPr>
          <p:cNvPr id="29" name="Text 27"/>
          <p:cNvSpPr/>
          <p:nvPr/>
        </p:nvSpPr>
        <p:spPr>
          <a:xfrm>
            <a:off x="5413248" y="1536192"/>
            <a:ext cx="3246120" cy="411480"/>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Registra un listener para un evento. Cada vez que el servidor emite 'newMessage', se ejecuta el callback y se actualiza el estado de React.</a:t>
            </a:r>
            <a:endParaRPr lang="en-US" sz="950" dirty="0"/>
          </a:p>
        </p:txBody>
      </p:sp>
      <p:sp>
        <p:nvSpPr>
          <p:cNvPr id="30" name="Shape 28"/>
          <p:cNvSpPr/>
          <p:nvPr/>
        </p:nvSpPr>
        <p:spPr>
          <a:xfrm>
            <a:off x="5257800" y="2075688"/>
            <a:ext cx="3520440" cy="777240"/>
          </a:xfrm>
          <a:prstGeom prst="roundRect">
            <a:avLst>
              <a:gd name="adj" fmla="val 9412"/>
            </a:avLst>
          </a:prstGeom>
          <a:solidFill>
            <a:srgbClr val="0F1A1A"/>
          </a:solidFill>
          <a:ln w="12700">
            <a:solidFill>
              <a:srgbClr val="FF6B6B"/>
            </a:solidFill>
            <a:prstDash val="solid"/>
          </a:ln>
          <a:effectLst>
            <a:outerShdw sx="100000" sy="100000" kx="0" ky="0" algn="bl" rotWithShape="0" blurRad="101600" dist="38100" dir="2700000">
              <a:srgbClr val="000000">
                <a:alpha val="35000"/>
              </a:srgbClr>
            </a:outerShdw>
          </a:effectLst>
        </p:spPr>
      </p:sp>
      <p:sp>
        <p:nvSpPr>
          <p:cNvPr id="31" name="Shape 29"/>
          <p:cNvSpPr/>
          <p:nvPr/>
        </p:nvSpPr>
        <p:spPr>
          <a:xfrm>
            <a:off x="5376672" y="2130552"/>
            <a:ext cx="256032" cy="256032"/>
          </a:xfrm>
          <a:prstGeom prst="ellipse">
            <a:avLst/>
          </a:prstGeom>
          <a:solidFill>
            <a:srgbClr val="FF6B6B"/>
          </a:solidFill>
          <a:ln w="12700">
            <a:solidFill>
              <a:srgbClr val="FF6B6B"/>
            </a:solidFill>
            <a:prstDash val="solid"/>
          </a:ln>
        </p:spPr>
      </p:sp>
      <p:sp>
        <p:nvSpPr>
          <p:cNvPr id="32" name="Text 30"/>
          <p:cNvSpPr/>
          <p:nvPr/>
        </p:nvSpPr>
        <p:spPr>
          <a:xfrm>
            <a:off x="5376672" y="2130552"/>
            <a:ext cx="256032" cy="256032"/>
          </a:xfrm>
          <a:prstGeom prst="rect">
            <a:avLst/>
          </a:prstGeom>
          <a:noFill/>
          <a:ln/>
        </p:spPr>
        <p:txBody>
          <a:bodyPr wrap="square" lIns="0" tIns="0" rIns="0" bIns="0" rtlCol="0" anchor="ctr"/>
          <a:lstStyle/>
          <a:p>
            <a:pPr algn="ctr" indent="0" marL="0">
              <a:buNone/>
            </a:pPr>
            <a:r>
              <a:rPr lang="en-US" sz="900" b="1" dirty="0">
                <a:solidFill>
                  <a:srgbClr val="0A0F0F"/>
                </a:solidFill>
                <a:latin typeface="Calibri" pitchFamily="34" charset="0"/>
                <a:ea typeface="Calibri" pitchFamily="34" charset="-122"/>
                <a:cs typeface="Calibri" pitchFamily="34" charset="-120"/>
              </a:rPr>
              <a:t>②</a:t>
            </a:r>
            <a:endParaRPr lang="en-US" sz="900" dirty="0"/>
          </a:p>
        </p:txBody>
      </p:sp>
      <p:sp>
        <p:nvSpPr>
          <p:cNvPr id="33" name="Text 31"/>
          <p:cNvSpPr/>
          <p:nvPr/>
        </p:nvSpPr>
        <p:spPr>
          <a:xfrm>
            <a:off x="5687568" y="2130552"/>
            <a:ext cx="2971800" cy="256032"/>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Cleanup — socket.off()</a:t>
            </a:r>
            <a:endParaRPr lang="en-US" sz="1100" dirty="0"/>
          </a:p>
        </p:txBody>
      </p:sp>
      <p:sp>
        <p:nvSpPr>
          <p:cNvPr id="34" name="Text 32"/>
          <p:cNvSpPr/>
          <p:nvPr/>
        </p:nvSpPr>
        <p:spPr>
          <a:xfrm>
            <a:off x="5413248" y="2404872"/>
            <a:ext cx="3246120" cy="411480"/>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El return de useEffect se ejecuta al desmontar el componente. Sin esto, cada remontaje duplicaría los listeners causando mensajes repetidos y memory leaks.</a:t>
            </a:r>
            <a:endParaRPr lang="en-US" sz="950" dirty="0"/>
          </a:p>
        </p:txBody>
      </p:sp>
      <p:sp>
        <p:nvSpPr>
          <p:cNvPr id="35" name="Shape 33"/>
          <p:cNvSpPr/>
          <p:nvPr/>
        </p:nvSpPr>
        <p:spPr>
          <a:xfrm>
            <a:off x="5257800" y="2944368"/>
            <a:ext cx="3520440" cy="777240"/>
          </a:xfrm>
          <a:prstGeom prst="roundRect">
            <a:avLst>
              <a:gd name="adj" fmla="val 9412"/>
            </a:avLst>
          </a:prstGeom>
          <a:solidFill>
            <a:srgbClr val="0F1A1A"/>
          </a:solidFill>
          <a:ln w="12700">
            <a:solidFill>
              <a:srgbClr val="4A9FD4"/>
            </a:solidFill>
            <a:prstDash val="solid"/>
          </a:ln>
          <a:effectLst>
            <a:outerShdw sx="100000" sy="100000" kx="0" ky="0" algn="bl" rotWithShape="0" blurRad="101600" dist="38100" dir="2700000">
              <a:srgbClr val="000000">
                <a:alpha val="35000"/>
              </a:srgbClr>
            </a:outerShdw>
          </a:effectLst>
        </p:spPr>
      </p:sp>
      <p:sp>
        <p:nvSpPr>
          <p:cNvPr id="36" name="Shape 34"/>
          <p:cNvSpPr/>
          <p:nvPr/>
        </p:nvSpPr>
        <p:spPr>
          <a:xfrm>
            <a:off x="5376672" y="2999232"/>
            <a:ext cx="256032" cy="256032"/>
          </a:xfrm>
          <a:prstGeom prst="ellipse">
            <a:avLst/>
          </a:prstGeom>
          <a:solidFill>
            <a:srgbClr val="4A9FD4"/>
          </a:solidFill>
          <a:ln w="12700">
            <a:solidFill>
              <a:srgbClr val="4A9FD4"/>
            </a:solidFill>
            <a:prstDash val="solid"/>
          </a:ln>
        </p:spPr>
      </p:sp>
      <p:sp>
        <p:nvSpPr>
          <p:cNvPr id="37" name="Text 35"/>
          <p:cNvSpPr/>
          <p:nvPr/>
        </p:nvSpPr>
        <p:spPr>
          <a:xfrm>
            <a:off x="5376672" y="2999232"/>
            <a:ext cx="256032" cy="256032"/>
          </a:xfrm>
          <a:prstGeom prst="rect">
            <a:avLst/>
          </a:prstGeom>
          <a:noFill/>
          <a:ln/>
        </p:spPr>
        <p:txBody>
          <a:bodyPr wrap="square" lIns="0" tIns="0" rIns="0" bIns="0" rtlCol="0" anchor="ctr"/>
          <a:lstStyle/>
          <a:p>
            <a:pPr algn="ctr" indent="0" marL="0">
              <a:buNone/>
            </a:pPr>
            <a:r>
              <a:rPr lang="en-US" sz="900" b="1" dirty="0">
                <a:solidFill>
                  <a:srgbClr val="0A0F0F"/>
                </a:solidFill>
                <a:latin typeface="Calibri" pitchFamily="34" charset="0"/>
                <a:ea typeface="Calibri" pitchFamily="34" charset="-122"/>
                <a:cs typeface="Calibri" pitchFamily="34" charset="-120"/>
              </a:rPr>
              <a:t>③</a:t>
            </a:r>
            <a:endParaRPr lang="en-US" sz="900" dirty="0"/>
          </a:p>
        </p:txBody>
      </p:sp>
      <p:sp>
        <p:nvSpPr>
          <p:cNvPr id="38" name="Text 36"/>
          <p:cNvSpPr/>
          <p:nvPr/>
        </p:nvSpPr>
        <p:spPr>
          <a:xfrm>
            <a:off x="5687568" y="2999232"/>
            <a:ext cx="2971800" cy="256032"/>
          </a:xfrm>
          <a:prstGeom prst="rect">
            <a:avLst/>
          </a:prstGeom>
          <a:noFill/>
          <a:ln/>
        </p:spPr>
        <p:txBody>
          <a:bodyPr wrap="square" lIns="0" tIns="0" rIns="0" bIns="0" rtlCol="0" anchor="ctr"/>
          <a:lstStyle/>
          <a:p>
            <a:pPr indent="0" marL="0">
              <a:buNone/>
            </a:pPr>
            <a:r>
              <a:rPr lang="en-US" sz="1100" b="1" dirty="0">
                <a:solidFill>
                  <a:srgbClr val="4A9FD4"/>
                </a:solidFill>
                <a:latin typeface="Calibri" pitchFamily="34" charset="0"/>
                <a:ea typeface="Calibri" pitchFamily="34" charset="-122"/>
                <a:cs typeface="Calibri" pitchFamily="34" charset="-120"/>
              </a:rPr>
              <a:t>Estado inmutable</a:t>
            </a:r>
            <a:endParaRPr lang="en-US" sz="1100" dirty="0"/>
          </a:p>
        </p:txBody>
      </p:sp>
      <p:sp>
        <p:nvSpPr>
          <p:cNvPr id="39" name="Text 37"/>
          <p:cNvSpPr/>
          <p:nvPr/>
        </p:nvSpPr>
        <p:spPr>
          <a:xfrm>
            <a:off x="5413248" y="3273552"/>
            <a:ext cx="3246120" cy="411480"/>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setMessages(prev =&gt; [...prev, msg]) crea un nuevo array en lugar de mutar el existente. React necesita detectar el cambio de referencia para disparar el re-render.</a:t>
            </a:r>
            <a:endParaRPr lang="en-US" sz="950" dirty="0"/>
          </a:p>
        </p:txBody>
      </p:sp>
      <p:sp>
        <p:nvSpPr>
          <p:cNvPr id="40" name="Shape 38"/>
          <p:cNvSpPr/>
          <p:nvPr/>
        </p:nvSpPr>
        <p:spPr>
          <a:xfrm>
            <a:off x="5257800" y="3813048"/>
            <a:ext cx="3520440" cy="777240"/>
          </a:xfrm>
          <a:prstGeom prst="roundRect">
            <a:avLst>
              <a:gd name="adj" fmla="val 9412"/>
            </a:avLst>
          </a:prstGeom>
          <a:solidFill>
            <a:srgbClr val="0F1A1A"/>
          </a:solidFill>
          <a:ln w="12700">
            <a:solidFill>
              <a:srgbClr val="00D4AA"/>
            </a:solidFill>
            <a:prstDash val="solid"/>
          </a:ln>
          <a:effectLst>
            <a:outerShdw sx="100000" sy="100000" kx="0" ky="0" algn="bl" rotWithShape="0" blurRad="101600" dist="38100" dir="2700000">
              <a:srgbClr val="000000">
                <a:alpha val="35000"/>
              </a:srgbClr>
            </a:outerShdw>
          </a:effectLst>
        </p:spPr>
      </p:sp>
      <p:sp>
        <p:nvSpPr>
          <p:cNvPr id="41" name="Shape 39"/>
          <p:cNvSpPr/>
          <p:nvPr/>
        </p:nvSpPr>
        <p:spPr>
          <a:xfrm>
            <a:off x="5376672" y="3867912"/>
            <a:ext cx="256032" cy="256032"/>
          </a:xfrm>
          <a:prstGeom prst="ellipse">
            <a:avLst/>
          </a:prstGeom>
          <a:solidFill>
            <a:srgbClr val="00D4AA"/>
          </a:solidFill>
          <a:ln w="12700">
            <a:solidFill>
              <a:srgbClr val="00D4AA"/>
            </a:solidFill>
            <a:prstDash val="solid"/>
          </a:ln>
        </p:spPr>
      </p:sp>
      <p:sp>
        <p:nvSpPr>
          <p:cNvPr id="42" name="Text 40"/>
          <p:cNvSpPr/>
          <p:nvPr/>
        </p:nvSpPr>
        <p:spPr>
          <a:xfrm>
            <a:off x="5376672" y="3867912"/>
            <a:ext cx="256032" cy="256032"/>
          </a:xfrm>
          <a:prstGeom prst="rect">
            <a:avLst/>
          </a:prstGeom>
          <a:noFill/>
          <a:ln/>
        </p:spPr>
        <p:txBody>
          <a:bodyPr wrap="square" lIns="0" tIns="0" rIns="0" bIns="0" rtlCol="0" anchor="ctr"/>
          <a:lstStyle/>
          <a:p>
            <a:pPr algn="ctr" indent="0" marL="0">
              <a:buNone/>
            </a:pPr>
            <a:r>
              <a:rPr lang="en-US" sz="900" b="1" dirty="0">
                <a:solidFill>
                  <a:srgbClr val="0A0F0F"/>
                </a:solidFill>
                <a:latin typeface="Calibri" pitchFamily="34" charset="0"/>
                <a:ea typeface="Calibri" pitchFamily="34" charset="-122"/>
                <a:cs typeface="Calibri" pitchFamily="34" charset="-120"/>
              </a:rPr>
              <a:t>④</a:t>
            </a:r>
            <a:endParaRPr lang="en-US" sz="900" dirty="0"/>
          </a:p>
        </p:txBody>
      </p:sp>
      <p:sp>
        <p:nvSpPr>
          <p:cNvPr id="43" name="Text 41"/>
          <p:cNvSpPr/>
          <p:nvPr/>
        </p:nvSpPr>
        <p:spPr>
          <a:xfrm>
            <a:off x="5687568" y="3867912"/>
            <a:ext cx="2971800" cy="256032"/>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Singleton socket.ts</a:t>
            </a:r>
            <a:endParaRPr lang="en-US" sz="1100" dirty="0"/>
          </a:p>
        </p:txBody>
      </p:sp>
      <p:sp>
        <p:nvSpPr>
          <p:cNvPr id="44" name="Text 42"/>
          <p:cNvSpPr/>
          <p:nvPr/>
        </p:nvSpPr>
        <p:spPr>
          <a:xfrm>
            <a:off x="5413248" y="4142232"/>
            <a:ext cx="3246120" cy="411480"/>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socket = io('http://localhost:3000') se ejecuta una sola vez al cargar la app. Todos los componentes importan la misma instancia — no se crean conexiones duplicadas.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0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E2F0EF"/>
                </a:solidFill>
                <a:latin typeface="Cambria" pitchFamily="34" charset="0"/>
                <a:ea typeface="Cambria" pitchFamily="34" charset="-122"/>
                <a:cs typeface="Cambria" pitchFamily="34" charset="-120"/>
              </a:rPr>
              <a:t>Flujo Completo End-to-End</a:t>
            </a:r>
            <a:endParaRPr lang="en-US" sz="3000" dirty="0"/>
          </a:p>
        </p:txBody>
      </p:sp>
      <p:sp>
        <p:nvSpPr>
          <p:cNvPr id="3" name="Shape 1"/>
          <p:cNvSpPr/>
          <p:nvPr/>
        </p:nvSpPr>
        <p:spPr>
          <a:xfrm>
            <a:off x="457200" y="841248"/>
            <a:ext cx="8229600" cy="0"/>
          </a:xfrm>
          <a:prstGeom prst="line">
            <a:avLst/>
          </a:prstGeom>
          <a:noFill/>
          <a:ln w="25400">
            <a:solidFill>
              <a:srgbClr val="00D4AA"/>
            </a:solidFill>
            <a:prstDash val="solid"/>
          </a:ln>
        </p:spPr>
      </p:sp>
      <p:sp>
        <p:nvSpPr>
          <p:cNvPr id="4" name="Shape 2"/>
          <p:cNvSpPr/>
          <p:nvPr/>
        </p:nvSpPr>
        <p:spPr>
          <a:xfrm>
            <a:off x="365760" y="960120"/>
            <a:ext cx="8412480" cy="1207008"/>
          </a:xfrm>
          <a:prstGeom prst="roundRect">
            <a:avLst>
              <a:gd name="adj" fmla="val 7576"/>
            </a:avLst>
          </a:prstGeom>
          <a:solidFill>
            <a:srgbClr val="0F1A1A"/>
          </a:solidFill>
          <a:ln w="19050">
            <a:solidFill>
              <a:srgbClr val="4A9FD4"/>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548640" y="1033272"/>
            <a:ext cx="2286000" cy="320040"/>
          </a:xfrm>
          <a:prstGeom prst="rect">
            <a:avLst/>
          </a:prstGeom>
          <a:noFill/>
          <a:ln/>
        </p:spPr>
        <p:txBody>
          <a:bodyPr wrap="square" lIns="0" tIns="0" rIns="0" bIns="0" rtlCol="0" anchor="ctr"/>
          <a:lstStyle/>
          <a:p>
            <a:pPr indent="0" marL="0">
              <a:buNone/>
            </a:pPr>
            <a:r>
              <a:rPr lang="en-US" sz="1300" b="1" dirty="0">
                <a:solidFill>
                  <a:srgbClr val="4A9FD4"/>
                </a:solidFill>
                <a:latin typeface="Calibri" pitchFamily="34" charset="0"/>
                <a:ea typeface="Calibri" pitchFamily="34" charset="-122"/>
                <a:cs typeface="Calibri" pitchFamily="34" charset="-120"/>
              </a:rPr>
              <a:t>🔌  Usuario Entra</a:t>
            </a:r>
            <a:endParaRPr lang="en-US" sz="1300" dirty="0"/>
          </a:p>
        </p:txBody>
      </p:sp>
      <p:sp>
        <p:nvSpPr>
          <p:cNvPr id="6" name="Shape 4"/>
          <p:cNvSpPr/>
          <p:nvPr/>
        </p:nvSpPr>
        <p:spPr>
          <a:xfrm>
            <a:off x="548640" y="1417320"/>
            <a:ext cx="201168" cy="201168"/>
          </a:xfrm>
          <a:prstGeom prst="ellipse">
            <a:avLst/>
          </a:prstGeom>
          <a:solidFill>
            <a:srgbClr val="4A9FD4"/>
          </a:solidFill>
          <a:ln w="12700">
            <a:solidFill>
              <a:srgbClr val="4A9FD4"/>
            </a:solidFill>
            <a:prstDash val="solid"/>
          </a:ln>
        </p:spPr>
      </p:sp>
      <p:sp>
        <p:nvSpPr>
          <p:cNvPr id="7" name="Text 5"/>
          <p:cNvSpPr/>
          <p:nvPr/>
        </p:nvSpPr>
        <p:spPr>
          <a:xfrm>
            <a:off x="548640" y="141732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1</a:t>
            </a:r>
            <a:endParaRPr lang="en-US" sz="800" dirty="0"/>
          </a:p>
        </p:txBody>
      </p:sp>
      <p:sp>
        <p:nvSpPr>
          <p:cNvPr id="8" name="Text 6"/>
          <p:cNvSpPr/>
          <p:nvPr/>
        </p:nvSpPr>
        <p:spPr>
          <a:xfrm>
            <a:off x="777240" y="138988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Browser carga React → socket.ts crea conexión a ws://localhost:3000</a:t>
            </a:r>
            <a:endParaRPr lang="en-US" sz="950" dirty="0"/>
          </a:p>
        </p:txBody>
      </p:sp>
      <p:sp>
        <p:nvSpPr>
          <p:cNvPr id="9" name="Shape 7"/>
          <p:cNvSpPr/>
          <p:nvPr/>
        </p:nvSpPr>
        <p:spPr>
          <a:xfrm>
            <a:off x="2633472" y="1417320"/>
            <a:ext cx="201168" cy="201168"/>
          </a:xfrm>
          <a:prstGeom prst="ellipse">
            <a:avLst/>
          </a:prstGeom>
          <a:solidFill>
            <a:srgbClr val="4A9FD4"/>
          </a:solidFill>
          <a:ln w="12700">
            <a:solidFill>
              <a:srgbClr val="4A9FD4"/>
            </a:solidFill>
            <a:prstDash val="solid"/>
          </a:ln>
        </p:spPr>
      </p:sp>
      <p:sp>
        <p:nvSpPr>
          <p:cNvPr id="10" name="Text 8"/>
          <p:cNvSpPr/>
          <p:nvPr/>
        </p:nvSpPr>
        <p:spPr>
          <a:xfrm>
            <a:off x="2633472" y="141732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2</a:t>
            </a:r>
            <a:endParaRPr lang="en-US" sz="800" dirty="0"/>
          </a:p>
        </p:txBody>
      </p:sp>
      <p:sp>
        <p:nvSpPr>
          <p:cNvPr id="11" name="Text 9"/>
          <p:cNvSpPr/>
          <p:nvPr/>
        </p:nvSpPr>
        <p:spPr>
          <a:xfrm>
            <a:off x="2862072" y="138988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Usuario escribe nombre → socket.emit('join', { username })</a:t>
            </a:r>
            <a:endParaRPr lang="en-US" sz="950" dirty="0"/>
          </a:p>
        </p:txBody>
      </p:sp>
      <p:sp>
        <p:nvSpPr>
          <p:cNvPr id="12" name="Shape 10"/>
          <p:cNvSpPr/>
          <p:nvPr/>
        </p:nvSpPr>
        <p:spPr>
          <a:xfrm>
            <a:off x="4718304" y="1417320"/>
            <a:ext cx="201168" cy="201168"/>
          </a:xfrm>
          <a:prstGeom prst="ellipse">
            <a:avLst/>
          </a:prstGeom>
          <a:solidFill>
            <a:srgbClr val="4A9FD4"/>
          </a:solidFill>
          <a:ln w="12700">
            <a:solidFill>
              <a:srgbClr val="4A9FD4"/>
            </a:solidFill>
            <a:prstDash val="solid"/>
          </a:ln>
        </p:spPr>
      </p:sp>
      <p:sp>
        <p:nvSpPr>
          <p:cNvPr id="13" name="Text 11"/>
          <p:cNvSpPr/>
          <p:nvPr/>
        </p:nvSpPr>
        <p:spPr>
          <a:xfrm>
            <a:off x="4718304" y="141732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3</a:t>
            </a:r>
            <a:endParaRPr lang="en-US" sz="800" dirty="0"/>
          </a:p>
        </p:txBody>
      </p:sp>
      <p:sp>
        <p:nvSpPr>
          <p:cNvPr id="14" name="Text 12"/>
          <p:cNvSpPr/>
          <p:nvPr/>
        </p:nvSpPr>
        <p:spPr>
          <a:xfrm>
            <a:off x="4946904" y="138988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Backend handleJoin() → addUser() → server.emit('userJoined') + server.emit('users')</a:t>
            </a:r>
            <a:endParaRPr lang="en-US" sz="950" dirty="0"/>
          </a:p>
        </p:txBody>
      </p:sp>
      <p:sp>
        <p:nvSpPr>
          <p:cNvPr id="15" name="Shape 13"/>
          <p:cNvSpPr/>
          <p:nvPr/>
        </p:nvSpPr>
        <p:spPr>
          <a:xfrm>
            <a:off x="6803136" y="1417320"/>
            <a:ext cx="201168" cy="201168"/>
          </a:xfrm>
          <a:prstGeom prst="ellipse">
            <a:avLst/>
          </a:prstGeom>
          <a:solidFill>
            <a:srgbClr val="4A9FD4"/>
          </a:solidFill>
          <a:ln w="12700">
            <a:solidFill>
              <a:srgbClr val="4A9FD4"/>
            </a:solidFill>
            <a:prstDash val="solid"/>
          </a:ln>
        </p:spPr>
      </p:sp>
      <p:sp>
        <p:nvSpPr>
          <p:cNvPr id="16" name="Text 14"/>
          <p:cNvSpPr/>
          <p:nvPr/>
        </p:nvSpPr>
        <p:spPr>
          <a:xfrm>
            <a:off x="6803136" y="141732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4</a:t>
            </a:r>
            <a:endParaRPr lang="en-US" sz="800" dirty="0"/>
          </a:p>
        </p:txBody>
      </p:sp>
      <p:sp>
        <p:nvSpPr>
          <p:cNvPr id="17" name="Text 15"/>
          <p:cNvSpPr/>
          <p:nvPr/>
        </p:nvSpPr>
        <p:spPr>
          <a:xfrm>
            <a:off x="7031736" y="138988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Todos los clientes reciben 'users' → panel izquierdo se actualiza</a:t>
            </a:r>
            <a:endParaRPr lang="en-US" sz="950" dirty="0"/>
          </a:p>
        </p:txBody>
      </p:sp>
      <p:sp>
        <p:nvSpPr>
          <p:cNvPr id="18" name="Shape 16"/>
          <p:cNvSpPr/>
          <p:nvPr/>
        </p:nvSpPr>
        <p:spPr>
          <a:xfrm>
            <a:off x="365760" y="2286000"/>
            <a:ext cx="8412480" cy="1207008"/>
          </a:xfrm>
          <a:prstGeom prst="roundRect">
            <a:avLst>
              <a:gd name="adj" fmla="val 7576"/>
            </a:avLst>
          </a:prstGeom>
          <a:solidFill>
            <a:srgbClr val="0F1A1A"/>
          </a:solidFill>
          <a:ln w="19050">
            <a:solidFill>
              <a:srgbClr val="00D4AA"/>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548640" y="2359152"/>
            <a:ext cx="2286000" cy="320040"/>
          </a:xfrm>
          <a:prstGeom prst="rect">
            <a:avLst/>
          </a:prstGeom>
          <a:noFill/>
          <a:ln/>
        </p:spPr>
        <p:txBody>
          <a:bodyPr wrap="square" lIns="0" tIns="0" rIns="0" bIns="0"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  Usuario Envía Mensaje</a:t>
            </a:r>
            <a:endParaRPr lang="en-US" sz="1300" dirty="0"/>
          </a:p>
        </p:txBody>
      </p:sp>
      <p:sp>
        <p:nvSpPr>
          <p:cNvPr id="20" name="Shape 18"/>
          <p:cNvSpPr/>
          <p:nvPr/>
        </p:nvSpPr>
        <p:spPr>
          <a:xfrm>
            <a:off x="548640" y="2743200"/>
            <a:ext cx="201168" cy="201168"/>
          </a:xfrm>
          <a:prstGeom prst="ellipse">
            <a:avLst/>
          </a:prstGeom>
          <a:solidFill>
            <a:srgbClr val="00D4AA"/>
          </a:solidFill>
          <a:ln w="12700">
            <a:solidFill>
              <a:srgbClr val="00D4AA"/>
            </a:solidFill>
            <a:prstDash val="solid"/>
          </a:ln>
        </p:spPr>
      </p:sp>
      <p:sp>
        <p:nvSpPr>
          <p:cNvPr id="21" name="Text 19"/>
          <p:cNvSpPr/>
          <p:nvPr/>
        </p:nvSpPr>
        <p:spPr>
          <a:xfrm>
            <a:off x="548640" y="274320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1</a:t>
            </a:r>
            <a:endParaRPr lang="en-US" sz="800" dirty="0"/>
          </a:p>
        </p:txBody>
      </p:sp>
      <p:sp>
        <p:nvSpPr>
          <p:cNvPr id="22" name="Text 20"/>
          <p:cNvSpPr/>
          <p:nvPr/>
        </p:nvSpPr>
        <p:spPr>
          <a:xfrm>
            <a:off x="777240" y="271576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Usuario escribe y presiona Enviar → socket.emit('sendMessage', { username, text })</a:t>
            </a:r>
            <a:endParaRPr lang="en-US" sz="950" dirty="0"/>
          </a:p>
        </p:txBody>
      </p:sp>
      <p:sp>
        <p:nvSpPr>
          <p:cNvPr id="23" name="Shape 21"/>
          <p:cNvSpPr/>
          <p:nvPr/>
        </p:nvSpPr>
        <p:spPr>
          <a:xfrm>
            <a:off x="2633472" y="2743200"/>
            <a:ext cx="201168" cy="201168"/>
          </a:xfrm>
          <a:prstGeom prst="ellipse">
            <a:avLst/>
          </a:prstGeom>
          <a:solidFill>
            <a:srgbClr val="00D4AA"/>
          </a:solidFill>
          <a:ln w="12700">
            <a:solidFill>
              <a:srgbClr val="00D4AA"/>
            </a:solidFill>
            <a:prstDash val="solid"/>
          </a:ln>
        </p:spPr>
      </p:sp>
      <p:sp>
        <p:nvSpPr>
          <p:cNvPr id="24" name="Text 22"/>
          <p:cNvSpPr/>
          <p:nvPr/>
        </p:nvSpPr>
        <p:spPr>
          <a:xfrm>
            <a:off x="2633472" y="274320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2</a:t>
            </a:r>
            <a:endParaRPr lang="en-US" sz="800" dirty="0"/>
          </a:p>
        </p:txBody>
      </p:sp>
      <p:sp>
        <p:nvSpPr>
          <p:cNvPr id="25" name="Text 23"/>
          <p:cNvSpPr/>
          <p:nvPr/>
        </p:nvSpPr>
        <p:spPr>
          <a:xfrm>
            <a:off x="2862072" y="271576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Backend handleMessage() → addMessage() agrega timestamp</a:t>
            </a:r>
            <a:endParaRPr lang="en-US" sz="950" dirty="0"/>
          </a:p>
        </p:txBody>
      </p:sp>
      <p:sp>
        <p:nvSpPr>
          <p:cNvPr id="26" name="Shape 24"/>
          <p:cNvSpPr/>
          <p:nvPr/>
        </p:nvSpPr>
        <p:spPr>
          <a:xfrm>
            <a:off x="4718304" y="2743200"/>
            <a:ext cx="201168" cy="201168"/>
          </a:xfrm>
          <a:prstGeom prst="ellipse">
            <a:avLst/>
          </a:prstGeom>
          <a:solidFill>
            <a:srgbClr val="00D4AA"/>
          </a:solidFill>
          <a:ln w="12700">
            <a:solidFill>
              <a:srgbClr val="00D4AA"/>
            </a:solidFill>
            <a:prstDash val="solid"/>
          </a:ln>
        </p:spPr>
      </p:sp>
      <p:sp>
        <p:nvSpPr>
          <p:cNvPr id="27" name="Text 25"/>
          <p:cNvSpPr/>
          <p:nvPr/>
        </p:nvSpPr>
        <p:spPr>
          <a:xfrm>
            <a:off x="4718304" y="274320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3</a:t>
            </a:r>
            <a:endParaRPr lang="en-US" sz="800" dirty="0"/>
          </a:p>
        </p:txBody>
      </p:sp>
      <p:sp>
        <p:nvSpPr>
          <p:cNvPr id="28" name="Text 26"/>
          <p:cNvSpPr/>
          <p:nvPr/>
        </p:nvSpPr>
        <p:spPr>
          <a:xfrm>
            <a:off x="4946904" y="271576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server.emit('newMessage', { username, text, time }) a todos</a:t>
            </a:r>
            <a:endParaRPr lang="en-US" sz="950" dirty="0"/>
          </a:p>
        </p:txBody>
      </p:sp>
      <p:sp>
        <p:nvSpPr>
          <p:cNvPr id="29" name="Shape 27"/>
          <p:cNvSpPr/>
          <p:nvPr/>
        </p:nvSpPr>
        <p:spPr>
          <a:xfrm>
            <a:off x="6803136" y="2743200"/>
            <a:ext cx="201168" cy="201168"/>
          </a:xfrm>
          <a:prstGeom prst="ellipse">
            <a:avLst/>
          </a:prstGeom>
          <a:solidFill>
            <a:srgbClr val="00D4AA"/>
          </a:solidFill>
          <a:ln w="12700">
            <a:solidFill>
              <a:srgbClr val="00D4AA"/>
            </a:solidFill>
            <a:prstDash val="solid"/>
          </a:ln>
        </p:spPr>
      </p:sp>
      <p:sp>
        <p:nvSpPr>
          <p:cNvPr id="30" name="Text 28"/>
          <p:cNvSpPr/>
          <p:nvPr/>
        </p:nvSpPr>
        <p:spPr>
          <a:xfrm>
            <a:off x="6803136" y="274320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4</a:t>
            </a:r>
            <a:endParaRPr lang="en-US" sz="800" dirty="0"/>
          </a:p>
        </p:txBody>
      </p:sp>
      <p:sp>
        <p:nvSpPr>
          <p:cNvPr id="31" name="Text 29"/>
          <p:cNvSpPr/>
          <p:nvPr/>
        </p:nvSpPr>
        <p:spPr>
          <a:xfrm>
            <a:off x="7031736" y="271576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Todos los clients: setMessages(prev =&gt; [...prev, msg]) → re-render</a:t>
            </a:r>
            <a:endParaRPr lang="en-US" sz="950" dirty="0"/>
          </a:p>
        </p:txBody>
      </p:sp>
      <p:sp>
        <p:nvSpPr>
          <p:cNvPr id="32" name="Shape 30"/>
          <p:cNvSpPr/>
          <p:nvPr/>
        </p:nvSpPr>
        <p:spPr>
          <a:xfrm>
            <a:off x="365760" y="3611880"/>
            <a:ext cx="8412480" cy="1207008"/>
          </a:xfrm>
          <a:prstGeom prst="roundRect">
            <a:avLst>
              <a:gd name="adj" fmla="val 7576"/>
            </a:avLst>
          </a:prstGeom>
          <a:solidFill>
            <a:srgbClr val="0F1A1A"/>
          </a:solidFill>
          <a:ln w="19050">
            <a:solidFill>
              <a:srgbClr val="FF6B6B"/>
            </a:solidFill>
            <a:prstDash val="solid"/>
          </a:ln>
          <a:effectLst>
            <a:outerShdw sx="100000" sy="100000" kx="0" ky="0" algn="bl" rotWithShape="0" blurRad="101600" dist="38100" dir="2700000">
              <a:srgbClr val="000000">
                <a:alpha val="35000"/>
              </a:srgbClr>
            </a:outerShdw>
          </a:effectLst>
        </p:spPr>
      </p:sp>
      <p:sp>
        <p:nvSpPr>
          <p:cNvPr id="33" name="Text 31"/>
          <p:cNvSpPr/>
          <p:nvPr/>
        </p:nvSpPr>
        <p:spPr>
          <a:xfrm>
            <a:off x="548640" y="3685032"/>
            <a:ext cx="2286000" cy="320040"/>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  Usuario Se Desconecta</a:t>
            </a:r>
            <a:endParaRPr lang="en-US" sz="1300" dirty="0"/>
          </a:p>
        </p:txBody>
      </p:sp>
      <p:sp>
        <p:nvSpPr>
          <p:cNvPr id="34" name="Shape 32"/>
          <p:cNvSpPr/>
          <p:nvPr/>
        </p:nvSpPr>
        <p:spPr>
          <a:xfrm>
            <a:off x="548640" y="4069080"/>
            <a:ext cx="201168" cy="201168"/>
          </a:xfrm>
          <a:prstGeom prst="ellipse">
            <a:avLst/>
          </a:prstGeom>
          <a:solidFill>
            <a:srgbClr val="FF6B6B"/>
          </a:solidFill>
          <a:ln w="12700">
            <a:solidFill>
              <a:srgbClr val="FF6B6B"/>
            </a:solidFill>
            <a:prstDash val="solid"/>
          </a:ln>
        </p:spPr>
      </p:sp>
      <p:sp>
        <p:nvSpPr>
          <p:cNvPr id="35" name="Text 33"/>
          <p:cNvSpPr/>
          <p:nvPr/>
        </p:nvSpPr>
        <p:spPr>
          <a:xfrm>
            <a:off x="548640" y="406908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1</a:t>
            </a:r>
            <a:endParaRPr lang="en-US" sz="800" dirty="0"/>
          </a:p>
        </p:txBody>
      </p:sp>
      <p:sp>
        <p:nvSpPr>
          <p:cNvPr id="36" name="Text 34"/>
          <p:cNvSpPr/>
          <p:nvPr/>
        </p:nvSpPr>
        <p:spPr>
          <a:xfrm>
            <a:off x="777240" y="404164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Browser cierra o pierde red → Socket.IO detecta timeout</a:t>
            </a:r>
            <a:endParaRPr lang="en-US" sz="950" dirty="0"/>
          </a:p>
        </p:txBody>
      </p:sp>
      <p:sp>
        <p:nvSpPr>
          <p:cNvPr id="37" name="Shape 35"/>
          <p:cNvSpPr/>
          <p:nvPr/>
        </p:nvSpPr>
        <p:spPr>
          <a:xfrm>
            <a:off x="2633472" y="4069080"/>
            <a:ext cx="201168" cy="201168"/>
          </a:xfrm>
          <a:prstGeom prst="ellipse">
            <a:avLst/>
          </a:prstGeom>
          <a:solidFill>
            <a:srgbClr val="FF6B6B"/>
          </a:solidFill>
          <a:ln w="12700">
            <a:solidFill>
              <a:srgbClr val="FF6B6B"/>
            </a:solidFill>
            <a:prstDash val="solid"/>
          </a:ln>
        </p:spPr>
      </p:sp>
      <p:sp>
        <p:nvSpPr>
          <p:cNvPr id="38" name="Text 36"/>
          <p:cNvSpPr/>
          <p:nvPr/>
        </p:nvSpPr>
        <p:spPr>
          <a:xfrm>
            <a:off x="2633472" y="406908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2</a:t>
            </a:r>
            <a:endParaRPr lang="en-US" sz="800" dirty="0"/>
          </a:p>
        </p:txBody>
      </p:sp>
      <p:sp>
        <p:nvSpPr>
          <p:cNvPr id="39" name="Text 37"/>
          <p:cNvSpPr/>
          <p:nvPr/>
        </p:nvSpPr>
        <p:spPr>
          <a:xfrm>
            <a:off x="2862072" y="404164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handleDisconnect(client) → removeUser(client.id)</a:t>
            </a:r>
            <a:endParaRPr lang="en-US" sz="950" dirty="0"/>
          </a:p>
        </p:txBody>
      </p:sp>
      <p:sp>
        <p:nvSpPr>
          <p:cNvPr id="40" name="Shape 38"/>
          <p:cNvSpPr/>
          <p:nvPr/>
        </p:nvSpPr>
        <p:spPr>
          <a:xfrm>
            <a:off x="4718304" y="4069080"/>
            <a:ext cx="201168" cy="201168"/>
          </a:xfrm>
          <a:prstGeom prst="ellipse">
            <a:avLst/>
          </a:prstGeom>
          <a:solidFill>
            <a:srgbClr val="FF6B6B"/>
          </a:solidFill>
          <a:ln w="12700">
            <a:solidFill>
              <a:srgbClr val="FF6B6B"/>
            </a:solidFill>
            <a:prstDash val="solid"/>
          </a:ln>
        </p:spPr>
      </p:sp>
      <p:sp>
        <p:nvSpPr>
          <p:cNvPr id="41" name="Text 39"/>
          <p:cNvSpPr/>
          <p:nvPr/>
        </p:nvSpPr>
        <p:spPr>
          <a:xfrm>
            <a:off x="4718304" y="406908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3</a:t>
            </a:r>
            <a:endParaRPr lang="en-US" sz="800" dirty="0"/>
          </a:p>
        </p:txBody>
      </p:sp>
      <p:sp>
        <p:nvSpPr>
          <p:cNvPr id="42" name="Text 40"/>
          <p:cNvSpPr/>
          <p:nvPr/>
        </p:nvSpPr>
        <p:spPr>
          <a:xfrm>
            <a:off x="4946904" y="404164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server.emit('users', [...lista actualizada sin el usuario])</a:t>
            </a:r>
            <a:endParaRPr lang="en-US" sz="950" dirty="0"/>
          </a:p>
        </p:txBody>
      </p:sp>
      <p:sp>
        <p:nvSpPr>
          <p:cNvPr id="43" name="Shape 41"/>
          <p:cNvSpPr/>
          <p:nvPr/>
        </p:nvSpPr>
        <p:spPr>
          <a:xfrm>
            <a:off x="6803136" y="4069080"/>
            <a:ext cx="201168" cy="201168"/>
          </a:xfrm>
          <a:prstGeom prst="ellipse">
            <a:avLst/>
          </a:prstGeom>
          <a:solidFill>
            <a:srgbClr val="FF6B6B"/>
          </a:solidFill>
          <a:ln w="12700">
            <a:solidFill>
              <a:srgbClr val="FF6B6B"/>
            </a:solidFill>
            <a:prstDash val="solid"/>
          </a:ln>
        </p:spPr>
      </p:sp>
      <p:sp>
        <p:nvSpPr>
          <p:cNvPr id="44" name="Text 42"/>
          <p:cNvSpPr/>
          <p:nvPr/>
        </p:nvSpPr>
        <p:spPr>
          <a:xfrm>
            <a:off x="6803136" y="4069080"/>
            <a:ext cx="201168" cy="201168"/>
          </a:xfrm>
          <a:prstGeom prst="rect">
            <a:avLst/>
          </a:prstGeom>
          <a:noFill/>
          <a:ln/>
        </p:spPr>
        <p:txBody>
          <a:bodyPr wrap="square" lIns="0" tIns="0" rIns="0" bIns="0" rtlCol="0" anchor="ctr"/>
          <a:lstStyle/>
          <a:p>
            <a:pPr algn="ctr" indent="0" marL="0">
              <a:buNone/>
            </a:pPr>
            <a:r>
              <a:rPr lang="en-US" sz="800" b="1" dirty="0">
                <a:solidFill>
                  <a:srgbClr val="0A0F0F"/>
                </a:solidFill>
                <a:latin typeface="Calibri" pitchFamily="34" charset="0"/>
                <a:ea typeface="Calibri" pitchFamily="34" charset="-122"/>
                <a:cs typeface="Calibri" pitchFamily="34" charset="-120"/>
              </a:rPr>
              <a:t>4</a:t>
            </a:r>
            <a:endParaRPr lang="en-US" sz="800" dirty="0"/>
          </a:p>
        </p:txBody>
      </p:sp>
      <p:sp>
        <p:nvSpPr>
          <p:cNvPr id="45" name="Text 43"/>
          <p:cNvSpPr/>
          <p:nvPr/>
        </p:nvSpPr>
        <p:spPr>
          <a:xfrm>
            <a:off x="7031736" y="4041648"/>
            <a:ext cx="1828800" cy="658368"/>
          </a:xfrm>
          <a:prstGeom prst="rect">
            <a:avLst/>
          </a:prstGeom>
          <a:noFill/>
          <a:ln/>
        </p:spPr>
        <p:txBody>
          <a:bodyPr wrap="square" lIns="0" tIns="0" rIns="0" bIns="0" rtlCol="0" anchor="ctr"/>
          <a:lstStyle/>
          <a:p>
            <a:pPr indent="0" marL="0">
              <a:buNone/>
            </a:pPr>
            <a:r>
              <a:rPr lang="en-US" sz="950" dirty="0">
                <a:solidFill>
                  <a:srgbClr val="7A9E9C"/>
                </a:solidFill>
                <a:latin typeface="Calibri" pitchFamily="34" charset="0"/>
                <a:ea typeface="Calibri" pitchFamily="34" charset="-122"/>
                <a:cs typeface="Calibri" pitchFamily="34" charset="-120"/>
              </a:rPr>
              <a:t>Todos los clients eliminan al usuario del panel izquierdo</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0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2800" b="1" dirty="0">
                <a:solidFill>
                  <a:srgbClr val="E2F0EF"/>
                </a:solidFill>
                <a:latin typeface="Cambria" pitchFamily="34" charset="0"/>
                <a:ea typeface="Cambria" pitchFamily="34" charset="-122"/>
                <a:cs typeface="Cambria" pitchFamily="34" charset="-120"/>
              </a:rPr>
              <a:t>Limitaciones y Posibles Extensiones</a:t>
            </a:r>
            <a:endParaRPr lang="en-US" sz="2800" dirty="0"/>
          </a:p>
        </p:txBody>
      </p:sp>
      <p:sp>
        <p:nvSpPr>
          <p:cNvPr id="3" name="Shape 1"/>
          <p:cNvSpPr/>
          <p:nvPr/>
        </p:nvSpPr>
        <p:spPr>
          <a:xfrm>
            <a:off x="457200" y="841248"/>
            <a:ext cx="8229600" cy="0"/>
          </a:xfrm>
          <a:prstGeom prst="line">
            <a:avLst/>
          </a:prstGeom>
          <a:noFill/>
          <a:ln w="25400">
            <a:solidFill>
              <a:srgbClr val="00D4AA"/>
            </a:solidFill>
            <a:prstDash val="solid"/>
          </a:ln>
        </p:spPr>
      </p:sp>
      <p:sp>
        <p:nvSpPr>
          <p:cNvPr id="4" name="Text 2"/>
          <p:cNvSpPr/>
          <p:nvPr/>
        </p:nvSpPr>
        <p:spPr>
          <a:xfrm>
            <a:off x="457200" y="932688"/>
            <a:ext cx="4023360" cy="292608"/>
          </a:xfrm>
          <a:prstGeom prst="rect">
            <a:avLst/>
          </a:prstGeom>
          <a:noFill/>
          <a:ln/>
        </p:spPr>
        <p:txBody>
          <a:bodyPr wrap="square" lIns="0" tIns="0" rIns="0" bIns="0" rtlCol="0" anchor="ctr"/>
          <a:lstStyle/>
          <a:p>
            <a:pPr indent="0" marL="0">
              <a:buNone/>
            </a:pPr>
            <a:r>
              <a:rPr lang="en-US" sz="1300" b="1" dirty="0">
                <a:solidFill>
                  <a:srgbClr val="FFD166"/>
                </a:solidFill>
                <a:latin typeface="Calibri" pitchFamily="34" charset="0"/>
                <a:ea typeface="Calibri" pitchFamily="34" charset="-122"/>
                <a:cs typeface="Calibri" pitchFamily="34" charset="-120"/>
              </a:rPr>
              <a:t>⚠️  Limitaciones Intencionales</a:t>
            </a:r>
            <a:endParaRPr lang="en-US" sz="1300" dirty="0"/>
          </a:p>
        </p:txBody>
      </p:sp>
      <p:sp>
        <p:nvSpPr>
          <p:cNvPr id="5" name="Shape 3"/>
          <p:cNvSpPr/>
          <p:nvPr/>
        </p:nvSpPr>
        <p:spPr>
          <a:xfrm>
            <a:off x="365760" y="1298448"/>
            <a:ext cx="4114800" cy="475488"/>
          </a:xfrm>
          <a:prstGeom prst="roundRect">
            <a:avLst>
              <a:gd name="adj" fmla="val 15385"/>
            </a:avLst>
          </a:prstGeom>
          <a:solidFill>
            <a:srgbClr val="0F1A1A"/>
          </a:solidFill>
          <a:ln w="12700">
            <a:solidFill>
              <a:srgbClr val="1E3030"/>
            </a:solidFill>
            <a:prstDash val="solid"/>
          </a:ln>
        </p:spPr>
      </p:sp>
      <p:sp>
        <p:nvSpPr>
          <p:cNvPr id="6" name="Text 4"/>
          <p:cNvSpPr/>
          <p:nvPr/>
        </p:nvSpPr>
        <p:spPr>
          <a:xfrm>
            <a:off x="502920" y="1298448"/>
            <a:ext cx="3840480" cy="475488"/>
          </a:xfrm>
          <a:prstGeom prst="rect">
            <a:avLst/>
          </a:prstGeom>
          <a:noFill/>
          <a:ln/>
        </p:spPr>
        <p:txBody>
          <a:bodyPr wrap="square" lIns="0" tIns="0" rIns="0" bIns="0" rtlCol="0" anchor="ctr"/>
          <a:lstStyle/>
          <a:p>
            <a:pPr indent="0" marL="0">
              <a:buNone/>
            </a:pPr>
            <a:r>
              <a:rPr lang="en-US" sz="1050" dirty="0">
                <a:solidFill>
                  <a:srgbClr val="E2F0EF"/>
                </a:solidFill>
                <a:latin typeface="Calibri" pitchFamily="34" charset="0"/>
                <a:ea typeface="Calibri" pitchFamily="34" charset="-122"/>
                <a:cs typeface="Calibri" pitchFamily="34" charset="-120"/>
              </a:rPr>
              <a:t>●  Estado en memoria</a:t>
            </a:r>
            <a:pPr indent="0" marL="0">
              <a:buNone/>
            </a:pPr>
            <a:r>
              <a:rPr lang="en-US" sz="1050" i="1" dirty="0">
                <a:solidFill>
                  <a:srgbClr val="7A9E9C"/>
                </a:solidFill>
                <a:latin typeface="Calibri" pitchFamily="34" charset="0"/>
                <a:ea typeface="Calibri" pitchFamily="34" charset="-122"/>
                <a:cs typeface="Calibri" pitchFamily="34" charset="-120"/>
              </a:rPr>
              <a:t>  → PostgreSQL / Redis en producción</a:t>
            </a:r>
            <a:endParaRPr lang="en-US" sz="1050" dirty="0"/>
          </a:p>
        </p:txBody>
      </p:sp>
      <p:sp>
        <p:nvSpPr>
          <p:cNvPr id="7" name="Shape 5"/>
          <p:cNvSpPr/>
          <p:nvPr/>
        </p:nvSpPr>
        <p:spPr>
          <a:xfrm>
            <a:off x="365760" y="1847088"/>
            <a:ext cx="4114800" cy="475488"/>
          </a:xfrm>
          <a:prstGeom prst="roundRect">
            <a:avLst>
              <a:gd name="adj" fmla="val 15385"/>
            </a:avLst>
          </a:prstGeom>
          <a:solidFill>
            <a:srgbClr val="0F1A1A"/>
          </a:solidFill>
          <a:ln w="12700">
            <a:solidFill>
              <a:srgbClr val="1E3030"/>
            </a:solidFill>
            <a:prstDash val="solid"/>
          </a:ln>
        </p:spPr>
      </p:sp>
      <p:sp>
        <p:nvSpPr>
          <p:cNvPr id="8" name="Text 6"/>
          <p:cNvSpPr/>
          <p:nvPr/>
        </p:nvSpPr>
        <p:spPr>
          <a:xfrm>
            <a:off x="502920" y="1847088"/>
            <a:ext cx="3840480" cy="475488"/>
          </a:xfrm>
          <a:prstGeom prst="rect">
            <a:avLst/>
          </a:prstGeom>
          <a:noFill/>
          <a:ln/>
        </p:spPr>
        <p:txBody>
          <a:bodyPr wrap="square" lIns="0" tIns="0" rIns="0" bIns="0" rtlCol="0" anchor="ctr"/>
          <a:lstStyle/>
          <a:p>
            <a:pPr indent="0" marL="0">
              <a:buNone/>
            </a:pPr>
            <a:r>
              <a:rPr lang="en-US" sz="1050" dirty="0">
                <a:solidFill>
                  <a:srgbClr val="E2F0EF"/>
                </a:solidFill>
                <a:latin typeface="Calibri" pitchFamily="34" charset="0"/>
                <a:ea typeface="Calibri" pitchFamily="34" charset="-122"/>
                <a:cs typeface="Calibri" pitchFamily="34" charset="-120"/>
              </a:rPr>
              <a:t>●  URLs hardcodeadas (:3000 / :5173)</a:t>
            </a:r>
            <a:pPr indent="0" marL="0">
              <a:buNone/>
            </a:pPr>
            <a:r>
              <a:rPr lang="en-US" sz="1050" i="1" dirty="0">
                <a:solidFill>
                  <a:srgbClr val="7A9E9C"/>
                </a:solidFill>
                <a:latin typeface="Calibri" pitchFamily="34" charset="0"/>
                <a:ea typeface="Calibri" pitchFamily="34" charset="-122"/>
                <a:cs typeface="Calibri" pitchFamily="34" charset="-120"/>
              </a:rPr>
              <a:t>  → Variables de entorno (.env)</a:t>
            </a:r>
            <a:endParaRPr lang="en-US" sz="1050" dirty="0"/>
          </a:p>
        </p:txBody>
      </p:sp>
      <p:sp>
        <p:nvSpPr>
          <p:cNvPr id="9" name="Shape 7"/>
          <p:cNvSpPr/>
          <p:nvPr/>
        </p:nvSpPr>
        <p:spPr>
          <a:xfrm>
            <a:off x="365760" y="2395728"/>
            <a:ext cx="4114800" cy="475488"/>
          </a:xfrm>
          <a:prstGeom prst="roundRect">
            <a:avLst>
              <a:gd name="adj" fmla="val 15385"/>
            </a:avLst>
          </a:prstGeom>
          <a:solidFill>
            <a:srgbClr val="0F1A1A"/>
          </a:solidFill>
          <a:ln w="12700">
            <a:solidFill>
              <a:srgbClr val="1E3030"/>
            </a:solidFill>
            <a:prstDash val="solid"/>
          </a:ln>
        </p:spPr>
      </p:sp>
      <p:sp>
        <p:nvSpPr>
          <p:cNvPr id="10" name="Text 8"/>
          <p:cNvSpPr/>
          <p:nvPr/>
        </p:nvSpPr>
        <p:spPr>
          <a:xfrm>
            <a:off x="502920" y="2395728"/>
            <a:ext cx="3840480" cy="475488"/>
          </a:xfrm>
          <a:prstGeom prst="rect">
            <a:avLst/>
          </a:prstGeom>
          <a:noFill/>
          <a:ln/>
        </p:spPr>
        <p:txBody>
          <a:bodyPr wrap="square" lIns="0" tIns="0" rIns="0" bIns="0" rtlCol="0" anchor="ctr"/>
          <a:lstStyle/>
          <a:p>
            <a:pPr indent="0" marL="0">
              <a:buNone/>
            </a:pPr>
            <a:r>
              <a:rPr lang="en-US" sz="1050" dirty="0">
                <a:solidFill>
                  <a:srgbClr val="E2F0EF"/>
                </a:solidFill>
                <a:latin typeface="Calibri" pitchFamily="34" charset="0"/>
                <a:ea typeface="Calibri" pitchFamily="34" charset="-122"/>
                <a:cs typeface="Calibri" pitchFamily="34" charset="-120"/>
              </a:rPr>
              <a:t>●  Sin autenticación real</a:t>
            </a:r>
            <a:pPr indent="0" marL="0">
              <a:buNone/>
            </a:pPr>
            <a:r>
              <a:rPr lang="en-US" sz="1050" i="1" dirty="0">
                <a:solidFill>
                  <a:srgbClr val="7A9E9C"/>
                </a:solidFill>
                <a:latin typeface="Calibri" pitchFamily="34" charset="0"/>
                <a:ea typeface="Calibri" pitchFamily="34" charset="-122"/>
                <a:cs typeface="Calibri" pitchFamily="34" charset="-120"/>
              </a:rPr>
              <a:t>  → JWT en el handshake del WebSocket</a:t>
            </a:r>
            <a:endParaRPr lang="en-US" sz="1050" dirty="0"/>
          </a:p>
        </p:txBody>
      </p:sp>
      <p:sp>
        <p:nvSpPr>
          <p:cNvPr id="11" name="Shape 9"/>
          <p:cNvSpPr/>
          <p:nvPr/>
        </p:nvSpPr>
        <p:spPr>
          <a:xfrm>
            <a:off x="365760" y="2944368"/>
            <a:ext cx="4114800" cy="475488"/>
          </a:xfrm>
          <a:prstGeom prst="roundRect">
            <a:avLst>
              <a:gd name="adj" fmla="val 15385"/>
            </a:avLst>
          </a:prstGeom>
          <a:solidFill>
            <a:srgbClr val="0F1A1A"/>
          </a:solidFill>
          <a:ln w="12700">
            <a:solidFill>
              <a:srgbClr val="1E3030"/>
            </a:solidFill>
            <a:prstDash val="solid"/>
          </a:ln>
        </p:spPr>
      </p:sp>
      <p:sp>
        <p:nvSpPr>
          <p:cNvPr id="12" name="Text 10"/>
          <p:cNvSpPr/>
          <p:nvPr/>
        </p:nvSpPr>
        <p:spPr>
          <a:xfrm>
            <a:off x="502920" y="2944368"/>
            <a:ext cx="3840480" cy="475488"/>
          </a:xfrm>
          <a:prstGeom prst="rect">
            <a:avLst/>
          </a:prstGeom>
          <a:noFill/>
          <a:ln/>
        </p:spPr>
        <p:txBody>
          <a:bodyPr wrap="square" lIns="0" tIns="0" rIns="0" bIns="0" rtlCol="0" anchor="ctr"/>
          <a:lstStyle/>
          <a:p>
            <a:pPr indent="0" marL="0">
              <a:buNone/>
            </a:pPr>
            <a:r>
              <a:rPr lang="en-US" sz="1050" dirty="0">
                <a:solidFill>
                  <a:srgbClr val="E2F0EF"/>
                </a:solidFill>
                <a:latin typeface="Calibri" pitchFamily="34" charset="0"/>
                <a:ea typeface="Calibri" pitchFamily="34" charset="-122"/>
                <a:cs typeface="Calibri" pitchFamily="34" charset="-120"/>
              </a:rPr>
              <a:t>●  Sin validación robusta</a:t>
            </a:r>
            <a:pPr indent="0" marL="0">
              <a:buNone/>
            </a:pPr>
            <a:r>
              <a:rPr lang="en-US" sz="1050" i="1" dirty="0">
                <a:solidFill>
                  <a:srgbClr val="7A9E9C"/>
                </a:solidFill>
                <a:latin typeface="Calibri" pitchFamily="34" charset="0"/>
                <a:ea typeface="Calibri" pitchFamily="34" charset="-122"/>
                <a:cs typeface="Calibri" pitchFamily="34" charset="-120"/>
              </a:rPr>
              <a:t>  → class-validator en DTOs de NestJS</a:t>
            </a:r>
            <a:endParaRPr lang="en-US" sz="1050" dirty="0"/>
          </a:p>
        </p:txBody>
      </p:sp>
      <p:sp>
        <p:nvSpPr>
          <p:cNvPr id="13" name="Shape 11"/>
          <p:cNvSpPr/>
          <p:nvPr/>
        </p:nvSpPr>
        <p:spPr>
          <a:xfrm>
            <a:off x="365760" y="3493008"/>
            <a:ext cx="4114800" cy="475488"/>
          </a:xfrm>
          <a:prstGeom prst="roundRect">
            <a:avLst>
              <a:gd name="adj" fmla="val 15385"/>
            </a:avLst>
          </a:prstGeom>
          <a:solidFill>
            <a:srgbClr val="0F1A1A"/>
          </a:solidFill>
          <a:ln w="12700">
            <a:solidFill>
              <a:srgbClr val="1E3030"/>
            </a:solidFill>
            <a:prstDash val="solid"/>
          </a:ln>
        </p:spPr>
      </p:sp>
      <p:sp>
        <p:nvSpPr>
          <p:cNvPr id="14" name="Text 12"/>
          <p:cNvSpPr/>
          <p:nvPr/>
        </p:nvSpPr>
        <p:spPr>
          <a:xfrm>
            <a:off x="502920" y="3493008"/>
            <a:ext cx="3840480" cy="475488"/>
          </a:xfrm>
          <a:prstGeom prst="rect">
            <a:avLst/>
          </a:prstGeom>
          <a:noFill/>
          <a:ln/>
        </p:spPr>
        <p:txBody>
          <a:bodyPr wrap="square" lIns="0" tIns="0" rIns="0" bIns="0" rtlCol="0" anchor="ctr"/>
          <a:lstStyle/>
          <a:p>
            <a:pPr indent="0" marL="0">
              <a:buNone/>
            </a:pPr>
            <a:r>
              <a:rPr lang="en-US" sz="1050" dirty="0">
                <a:solidFill>
                  <a:srgbClr val="E2F0EF"/>
                </a:solidFill>
                <a:latin typeface="Calibri" pitchFamily="34" charset="0"/>
                <a:ea typeface="Calibri" pitchFamily="34" charset="-122"/>
                <a:cs typeface="Calibri" pitchFamily="34" charset="-120"/>
              </a:rPr>
              <a:t>●  Sin historial al reconectar</a:t>
            </a:r>
            <a:pPr indent="0" marL="0">
              <a:buNone/>
            </a:pPr>
            <a:r>
              <a:rPr lang="en-US" sz="1050" i="1" dirty="0">
                <a:solidFill>
                  <a:srgbClr val="7A9E9C"/>
                </a:solidFill>
                <a:latin typeface="Calibri" pitchFamily="34" charset="0"/>
                <a:ea typeface="Calibri" pitchFamily="34" charset="-122"/>
                <a:cs typeface="Calibri" pitchFamily="34" charset="-120"/>
              </a:rPr>
              <a:t>  → Cargar mensajes desde BD al conectar</a:t>
            </a:r>
            <a:endParaRPr lang="en-US" sz="1050" dirty="0"/>
          </a:p>
        </p:txBody>
      </p:sp>
      <p:sp>
        <p:nvSpPr>
          <p:cNvPr id="15" name="Shape 13"/>
          <p:cNvSpPr/>
          <p:nvPr/>
        </p:nvSpPr>
        <p:spPr>
          <a:xfrm>
            <a:off x="365760" y="4041648"/>
            <a:ext cx="4114800" cy="475488"/>
          </a:xfrm>
          <a:prstGeom prst="roundRect">
            <a:avLst>
              <a:gd name="adj" fmla="val 15385"/>
            </a:avLst>
          </a:prstGeom>
          <a:solidFill>
            <a:srgbClr val="0F1A1A"/>
          </a:solidFill>
          <a:ln w="12700">
            <a:solidFill>
              <a:srgbClr val="1E3030"/>
            </a:solidFill>
            <a:prstDash val="solid"/>
          </a:ln>
        </p:spPr>
      </p:sp>
      <p:sp>
        <p:nvSpPr>
          <p:cNvPr id="16" name="Text 14"/>
          <p:cNvSpPr/>
          <p:nvPr/>
        </p:nvSpPr>
        <p:spPr>
          <a:xfrm>
            <a:off x="502920" y="4041648"/>
            <a:ext cx="3840480" cy="475488"/>
          </a:xfrm>
          <a:prstGeom prst="rect">
            <a:avLst/>
          </a:prstGeom>
          <a:noFill/>
          <a:ln/>
        </p:spPr>
        <p:txBody>
          <a:bodyPr wrap="square" lIns="0" tIns="0" rIns="0" bIns="0" rtlCol="0" anchor="ctr"/>
          <a:lstStyle/>
          <a:p>
            <a:pPr indent="0" marL="0">
              <a:buNone/>
            </a:pPr>
            <a:r>
              <a:rPr lang="en-US" sz="1050" dirty="0">
                <a:solidFill>
                  <a:srgbClr val="E2F0EF"/>
                </a:solidFill>
                <a:latin typeface="Calibri" pitchFamily="34" charset="0"/>
                <a:ea typeface="Calibri" pitchFamily="34" charset="-122"/>
                <a:cs typeface="Calibri" pitchFamily="34" charset="-120"/>
              </a:rPr>
              <a:t>●  Sin salas (rooms)</a:t>
            </a:r>
            <a:pPr indent="0" marL="0">
              <a:buNone/>
            </a:pPr>
            <a:r>
              <a:rPr lang="en-US" sz="1050" i="1" dirty="0">
                <a:solidFill>
                  <a:srgbClr val="7A9E9C"/>
                </a:solidFill>
                <a:latin typeface="Calibri" pitchFamily="34" charset="0"/>
                <a:ea typeface="Calibri" pitchFamily="34" charset="-122"/>
                <a:cs typeface="Calibri" pitchFamily="34" charset="-120"/>
              </a:rPr>
              <a:t>  → socket.join('sala') de Socket.IO</a:t>
            </a:r>
            <a:endParaRPr lang="en-US" sz="1050" dirty="0"/>
          </a:p>
        </p:txBody>
      </p:sp>
      <p:sp>
        <p:nvSpPr>
          <p:cNvPr id="17" name="Text 15"/>
          <p:cNvSpPr/>
          <p:nvPr/>
        </p:nvSpPr>
        <p:spPr>
          <a:xfrm>
            <a:off x="4663440" y="932688"/>
            <a:ext cx="4206240" cy="292608"/>
          </a:xfrm>
          <a:prstGeom prst="rect">
            <a:avLst/>
          </a:prstGeom>
          <a:noFill/>
          <a:ln/>
        </p:spPr>
        <p:txBody>
          <a:bodyPr wrap="square" lIns="0" tIns="0" rIns="0" bIns="0" rtlCol="0" anchor="ctr"/>
          <a:lstStyle/>
          <a:p>
            <a:pPr indent="0" marL="0">
              <a:buNone/>
            </a:pPr>
            <a:r>
              <a:rPr lang="en-US" sz="1300" b="1" dirty="0">
                <a:solidFill>
                  <a:srgbClr val="06D6A0"/>
                </a:solidFill>
                <a:latin typeface="Calibri" pitchFamily="34" charset="0"/>
                <a:ea typeface="Calibri" pitchFamily="34" charset="-122"/>
                <a:cs typeface="Calibri" pitchFamily="34" charset="-120"/>
              </a:rPr>
              <a:t>🚀  Extensiones Didácticas</a:t>
            </a:r>
            <a:endParaRPr lang="en-US" sz="1300" dirty="0"/>
          </a:p>
        </p:txBody>
      </p:sp>
      <p:sp>
        <p:nvSpPr>
          <p:cNvPr id="18" name="Shape 16"/>
          <p:cNvSpPr/>
          <p:nvPr/>
        </p:nvSpPr>
        <p:spPr>
          <a:xfrm>
            <a:off x="4663440" y="1298448"/>
            <a:ext cx="4114800" cy="576072"/>
          </a:xfrm>
          <a:prstGeom prst="roundRect">
            <a:avLst>
              <a:gd name="adj" fmla="val 12698"/>
            </a:avLst>
          </a:prstGeom>
          <a:solidFill>
            <a:srgbClr val="0F1A1A"/>
          </a:solidFill>
          <a:ln w="12700">
            <a:solidFill>
              <a:srgbClr val="06D6A0"/>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4828032" y="1298448"/>
            <a:ext cx="3794760" cy="576072"/>
          </a:xfrm>
          <a:prstGeom prst="rect">
            <a:avLst/>
          </a:prstGeom>
          <a:noFill/>
          <a:ln/>
        </p:spPr>
        <p:txBody>
          <a:bodyPr wrap="square" lIns="0" tIns="0" rIns="0" bIns="0" rtlCol="0" anchor="ctr"/>
          <a:lstStyle/>
          <a:p>
            <a:pPr indent="0" marL="0">
              <a:buNone/>
            </a:pPr>
            <a:r>
              <a:rPr lang="en-US" sz="1050" dirty="0">
                <a:solidFill>
                  <a:srgbClr val="7A9E9C"/>
                </a:solidFill>
                <a:latin typeface="Calibri" pitchFamily="34" charset="0"/>
                <a:ea typeface="Calibri" pitchFamily="34" charset="-122"/>
                <a:cs typeface="Calibri" pitchFamily="34" charset="-120"/>
              </a:rPr>
              <a:t>🗄️  Persistencia con TypeORM + PostgreSQL para guardar mensajes entre sesiones.</a:t>
            </a:r>
            <a:endParaRPr lang="en-US" sz="1050" dirty="0"/>
          </a:p>
        </p:txBody>
      </p:sp>
      <p:sp>
        <p:nvSpPr>
          <p:cNvPr id="20" name="Shape 18"/>
          <p:cNvSpPr/>
          <p:nvPr/>
        </p:nvSpPr>
        <p:spPr>
          <a:xfrm>
            <a:off x="4663440" y="1956816"/>
            <a:ext cx="4114800" cy="576072"/>
          </a:xfrm>
          <a:prstGeom prst="roundRect">
            <a:avLst>
              <a:gd name="adj" fmla="val 12698"/>
            </a:avLst>
          </a:prstGeom>
          <a:solidFill>
            <a:srgbClr val="0F1A1A"/>
          </a:solidFill>
          <a:ln w="12700">
            <a:solidFill>
              <a:srgbClr val="06D6A0"/>
            </a:solidFill>
            <a:prstDash val="solid"/>
          </a:ln>
          <a:effectLst>
            <a:outerShdw sx="100000" sy="100000" kx="0" ky="0" algn="bl" rotWithShape="0" blurRad="101600" dist="38100" dir="2700000">
              <a:srgbClr val="000000">
                <a:alpha val="35000"/>
              </a:srgbClr>
            </a:outerShdw>
          </a:effectLst>
        </p:spPr>
      </p:sp>
      <p:sp>
        <p:nvSpPr>
          <p:cNvPr id="21" name="Text 19"/>
          <p:cNvSpPr/>
          <p:nvPr/>
        </p:nvSpPr>
        <p:spPr>
          <a:xfrm>
            <a:off x="4828032" y="1956816"/>
            <a:ext cx="3794760" cy="576072"/>
          </a:xfrm>
          <a:prstGeom prst="rect">
            <a:avLst/>
          </a:prstGeom>
          <a:noFill/>
          <a:ln/>
        </p:spPr>
        <p:txBody>
          <a:bodyPr wrap="square" lIns="0" tIns="0" rIns="0" bIns="0" rtlCol="0" anchor="ctr"/>
          <a:lstStyle/>
          <a:p>
            <a:pPr indent="0" marL="0">
              <a:buNone/>
            </a:pPr>
            <a:r>
              <a:rPr lang="en-US" sz="1050" dirty="0">
                <a:solidFill>
                  <a:srgbClr val="7A9E9C"/>
                </a:solidFill>
                <a:latin typeface="Calibri" pitchFamily="34" charset="0"/>
                <a:ea typeface="Calibri" pitchFamily="34" charset="-122"/>
                <a:cs typeface="Calibri" pitchFamily="34" charset="-120"/>
              </a:rPr>
              <a:t>🏠  Salas de chat: socket.join('sala') + server.to('sala').emit() — múltiples canales.</a:t>
            </a:r>
            <a:endParaRPr lang="en-US" sz="1050" dirty="0"/>
          </a:p>
        </p:txBody>
      </p:sp>
      <p:sp>
        <p:nvSpPr>
          <p:cNvPr id="22" name="Shape 20"/>
          <p:cNvSpPr/>
          <p:nvPr/>
        </p:nvSpPr>
        <p:spPr>
          <a:xfrm>
            <a:off x="4663440" y="2615184"/>
            <a:ext cx="4114800" cy="576072"/>
          </a:xfrm>
          <a:prstGeom prst="roundRect">
            <a:avLst>
              <a:gd name="adj" fmla="val 12698"/>
            </a:avLst>
          </a:prstGeom>
          <a:solidFill>
            <a:srgbClr val="0F1A1A"/>
          </a:solidFill>
          <a:ln w="12700">
            <a:solidFill>
              <a:srgbClr val="06D6A0"/>
            </a:solidFill>
            <a:prstDash val="solid"/>
          </a:ln>
          <a:effectLst>
            <a:outerShdw sx="100000" sy="100000" kx="0" ky="0" algn="bl" rotWithShape="0" blurRad="101600" dist="38100" dir="2700000">
              <a:srgbClr val="000000">
                <a:alpha val="35000"/>
              </a:srgbClr>
            </a:outerShdw>
          </a:effectLst>
        </p:spPr>
      </p:sp>
      <p:sp>
        <p:nvSpPr>
          <p:cNvPr id="23" name="Text 21"/>
          <p:cNvSpPr/>
          <p:nvPr/>
        </p:nvSpPr>
        <p:spPr>
          <a:xfrm>
            <a:off x="4828032" y="2615184"/>
            <a:ext cx="3794760" cy="576072"/>
          </a:xfrm>
          <a:prstGeom prst="rect">
            <a:avLst/>
          </a:prstGeom>
          <a:noFill/>
          <a:ln/>
        </p:spPr>
        <p:txBody>
          <a:bodyPr wrap="square" lIns="0" tIns="0" rIns="0" bIns="0" rtlCol="0" anchor="ctr"/>
          <a:lstStyle/>
          <a:p>
            <a:pPr indent="0" marL="0">
              <a:buNone/>
            </a:pPr>
            <a:r>
              <a:rPr lang="en-US" sz="1050" dirty="0">
                <a:solidFill>
                  <a:srgbClr val="7A9E9C"/>
                </a:solidFill>
                <a:latin typeface="Calibri" pitchFamily="34" charset="0"/>
                <a:ea typeface="Calibri" pitchFamily="34" charset="-122"/>
                <a:cs typeface="Calibri" pitchFamily="34" charset="-120"/>
              </a:rPr>
              <a:t>✍️  Indicador 'escribiendo': emitir evento typing con debounce de 500ms.</a:t>
            </a:r>
            <a:endParaRPr lang="en-US" sz="1050" dirty="0"/>
          </a:p>
        </p:txBody>
      </p:sp>
      <p:sp>
        <p:nvSpPr>
          <p:cNvPr id="24" name="Shape 22"/>
          <p:cNvSpPr/>
          <p:nvPr/>
        </p:nvSpPr>
        <p:spPr>
          <a:xfrm>
            <a:off x="4663440" y="3273552"/>
            <a:ext cx="4114800" cy="576072"/>
          </a:xfrm>
          <a:prstGeom prst="roundRect">
            <a:avLst>
              <a:gd name="adj" fmla="val 12698"/>
            </a:avLst>
          </a:prstGeom>
          <a:solidFill>
            <a:srgbClr val="0F1A1A"/>
          </a:solidFill>
          <a:ln w="12700">
            <a:solidFill>
              <a:srgbClr val="06D6A0"/>
            </a:solidFill>
            <a:prstDash val="solid"/>
          </a:ln>
          <a:effectLst>
            <a:outerShdw sx="100000" sy="100000" kx="0" ky="0" algn="bl" rotWithShape="0" blurRad="101600" dist="38100" dir="2700000">
              <a:srgbClr val="000000">
                <a:alpha val="35000"/>
              </a:srgbClr>
            </a:outerShdw>
          </a:effectLst>
        </p:spPr>
      </p:sp>
      <p:sp>
        <p:nvSpPr>
          <p:cNvPr id="25" name="Text 23"/>
          <p:cNvSpPr/>
          <p:nvPr/>
        </p:nvSpPr>
        <p:spPr>
          <a:xfrm>
            <a:off x="4828032" y="3273552"/>
            <a:ext cx="3794760" cy="576072"/>
          </a:xfrm>
          <a:prstGeom prst="rect">
            <a:avLst/>
          </a:prstGeom>
          <a:noFill/>
          <a:ln/>
        </p:spPr>
        <p:txBody>
          <a:bodyPr wrap="square" lIns="0" tIns="0" rIns="0" bIns="0" rtlCol="0" anchor="ctr"/>
          <a:lstStyle/>
          <a:p>
            <a:pPr indent="0" marL="0">
              <a:buNone/>
            </a:pPr>
            <a:r>
              <a:rPr lang="en-US" sz="1050" dirty="0">
                <a:solidFill>
                  <a:srgbClr val="7A9E9C"/>
                </a:solidFill>
                <a:latin typeface="Calibri" pitchFamily="34" charset="0"/>
                <a:ea typeface="Calibri" pitchFamily="34" charset="-122"/>
                <a:cs typeface="Calibri" pitchFamily="34" charset="-120"/>
              </a:rPr>
              <a:t>🔐  Autenticación JWT en el handshake: socket.use() para verificar tokens al conectar.</a:t>
            </a:r>
            <a:endParaRPr lang="en-US" sz="1050" dirty="0"/>
          </a:p>
        </p:txBody>
      </p:sp>
      <p:sp>
        <p:nvSpPr>
          <p:cNvPr id="26" name="Shape 24"/>
          <p:cNvSpPr/>
          <p:nvPr/>
        </p:nvSpPr>
        <p:spPr>
          <a:xfrm>
            <a:off x="4663440" y="3931920"/>
            <a:ext cx="4114800" cy="576072"/>
          </a:xfrm>
          <a:prstGeom prst="roundRect">
            <a:avLst>
              <a:gd name="adj" fmla="val 12698"/>
            </a:avLst>
          </a:prstGeom>
          <a:solidFill>
            <a:srgbClr val="0F1A1A"/>
          </a:solidFill>
          <a:ln w="12700">
            <a:solidFill>
              <a:srgbClr val="06D6A0"/>
            </a:solidFill>
            <a:prstDash val="solid"/>
          </a:ln>
          <a:effectLst>
            <a:outerShdw sx="100000" sy="100000" kx="0" ky="0" algn="bl" rotWithShape="0" blurRad="101600" dist="38100" dir="2700000">
              <a:srgbClr val="000000">
                <a:alpha val="35000"/>
              </a:srgbClr>
            </a:outerShdw>
          </a:effectLst>
        </p:spPr>
      </p:sp>
      <p:sp>
        <p:nvSpPr>
          <p:cNvPr id="27" name="Text 25"/>
          <p:cNvSpPr/>
          <p:nvPr/>
        </p:nvSpPr>
        <p:spPr>
          <a:xfrm>
            <a:off x="4828032" y="3931920"/>
            <a:ext cx="3794760" cy="576072"/>
          </a:xfrm>
          <a:prstGeom prst="rect">
            <a:avLst/>
          </a:prstGeom>
          <a:noFill/>
          <a:ln/>
        </p:spPr>
        <p:txBody>
          <a:bodyPr wrap="square" lIns="0" tIns="0" rIns="0" bIns="0" rtlCol="0" anchor="ctr"/>
          <a:lstStyle/>
          <a:p>
            <a:pPr indent="0" marL="0">
              <a:buNone/>
            </a:pPr>
            <a:r>
              <a:rPr lang="en-US" sz="1050" dirty="0">
                <a:solidFill>
                  <a:srgbClr val="7A9E9C"/>
                </a:solidFill>
                <a:latin typeface="Calibri" pitchFamily="34" charset="0"/>
                <a:ea typeface="Calibri" pitchFamily="34" charset="-122"/>
                <a:cs typeface="Calibri" pitchFamily="34" charset="-120"/>
              </a:rPr>
              <a:t>📨  Mensajes privados: server.to(socketId).emit() para DMs entre usuarios.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0F"/>
        </a:solidFill>
      </p:bgPr>
    </p:bg>
    <p:spTree>
      <p:nvGrpSpPr>
        <p:cNvPr id="1" name=""/>
        <p:cNvGrpSpPr/>
        <p:nvPr/>
      </p:nvGrpSpPr>
      <p:grpSpPr>
        <a:xfrm>
          <a:off x="0" y="0"/>
          <a:ext cx="0" cy="0"/>
          <a:chOff x="0" y="0"/>
          <a:chExt cx="0" cy="0"/>
        </a:xfrm>
      </p:grpSpPr>
      <p:sp>
        <p:nvSpPr>
          <p:cNvPr id="2" name="Shape 0"/>
          <p:cNvSpPr/>
          <p:nvPr/>
        </p:nvSpPr>
        <p:spPr>
          <a:xfrm>
            <a:off x="365760" y="256032"/>
            <a:ext cx="164592" cy="164592"/>
          </a:xfrm>
          <a:prstGeom prst="ellipse">
            <a:avLst/>
          </a:prstGeom>
          <a:solidFill>
            <a:srgbClr val="00D4AA"/>
          </a:solidFill>
          <a:ln w="12700">
            <a:solidFill>
              <a:srgbClr val="00D4AA"/>
            </a:solidFill>
            <a:prstDash val="solid"/>
          </a:ln>
        </p:spPr>
      </p:sp>
      <p:sp>
        <p:nvSpPr>
          <p:cNvPr id="3" name="Shape 1"/>
          <p:cNvSpPr/>
          <p:nvPr/>
        </p:nvSpPr>
        <p:spPr>
          <a:xfrm>
            <a:off x="713232" y="256032"/>
            <a:ext cx="164592" cy="164592"/>
          </a:xfrm>
          <a:prstGeom prst="ellipse">
            <a:avLst/>
          </a:prstGeom>
          <a:solidFill>
            <a:srgbClr val="4A9FD4"/>
          </a:solidFill>
          <a:ln w="12700">
            <a:solidFill>
              <a:srgbClr val="4A9FD4"/>
            </a:solidFill>
            <a:prstDash val="solid"/>
          </a:ln>
        </p:spPr>
      </p:sp>
      <p:sp>
        <p:nvSpPr>
          <p:cNvPr id="4" name="Shape 2"/>
          <p:cNvSpPr/>
          <p:nvPr/>
        </p:nvSpPr>
        <p:spPr>
          <a:xfrm>
            <a:off x="1060704" y="256032"/>
            <a:ext cx="164592" cy="164592"/>
          </a:xfrm>
          <a:prstGeom prst="ellipse">
            <a:avLst/>
          </a:prstGeom>
          <a:solidFill>
            <a:srgbClr val="FF6B6B"/>
          </a:solidFill>
          <a:ln w="12700">
            <a:solidFill>
              <a:srgbClr val="FF6B6B"/>
            </a:solidFill>
            <a:prstDash val="solid"/>
          </a:ln>
        </p:spPr>
      </p:sp>
      <p:sp>
        <p:nvSpPr>
          <p:cNvPr id="5" name="Shape 3"/>
          <p:cNvSpPr/>
          <p:nvPr/>
        </p:nvSpPr>
        <p:spPr>
          <a:xfrm>
            <a:off x="1408176" y="256032"/>
            <a:ext cx="164592" cy="164592"/>
          </a:xfrm>
          <a:prstGeom prst="ellipse">
            <a:avLst/>
          </a:prstGeom>
          <a:solidFill>
            <a:srgbClr val="FFD166"/>
          </a:solidFill>
          <a:ln w="12700">
            <a:solidFill>
              <a:srgbClr val="FFD166"/>
            </a:solidFill>
            <a:prstDash val="solid"/>
          </a:ln>
        </p:spPr>
      </p:sp>
      <p:sp>
        <p:nvSpPr>
          <p:cNvPr id="6" name="Shape 4"/>
          <p:cNvSpPr/>
          <p:nvPr/>
        </p:nvSpPr>
        <p:spPr>
          <a:xfrm>
            <a:off x="1755648" y="256032"/>
            <a:ext cx="164592" cy="164592"/>
          </a:xfrm>
          <a:prstGeom prst="ellipse">
            <a:avLst/>
          </a:prstGeom>
          <a:solidFill>
            <a:srgbClr val="9B72CF"/>
          </a:solidFill>
          <a:ln w="12700">
            <a:solidFill>
              <a:srgbClr val="9B72CF"/>
            </a:solidFill>
            <a:prstDash val="solid"/>
          </a:ln>
        </p:spPr>
      </p:sp>
      <p:sp>
        <p:nvSpPr>
          <p:cNvPr id="7" name="Text 5"/>
          <p:cNvSpPr/>
          <p:nvPr/>
        </p:nvSpPr>
        <p:spPr>
          <a:xfrm>
            <a:off x="457200" y="621792"/>
            <a:ext cx="8229600" cy="658368"/>
          </a:xfrm>
          <a:prstGeom prst="rect">
            <a:avLst/>
          </a:prstGeom>
          <a:noFill/>
          <a:ln/>
        </p:spPr>
        <p:txBody>
          <a:bodyPr wrap="square" lIns="0" tIns="0" rIns="0" bIns="0" rtlCol="0" anchor="ctr"/>
          <a:lstStyle/>
          <a:p>
            <a:pPr algn="ctr" indent="0" marL="0">
              <a:buNone/>
            </a:pPr>
            <a:r>
              <a:rPr lang="en-US" sz="3600" b="1" dirty="0">
                <a:solidFill>
                  <a:srgbClr val="E2F0EF"/>
                </a:solidFill>
                <a:latin typeface="Cambria" pitchFamily="34" charset="0"/>
                <a:ea typeface="Cambria" pitchFamily="34" charset="-122"/>
                <a:cs typeface="Cambria" pitchFamily="34" charset="-120"/>
              </a:rPr>
              <a:t>Conclusión</a:t>
            </a:r>
            <a:endParaRPr lang="en-US" sz="3600" dirty="0"/>
          </a:p>
        </p:txBody>
      </p:sp>
      <p:sp>
        <p:nvSpPr>
          <p:cNvPr id="8" name="Text 6"/>
          <p:cNvSpPr/>
          <p:nvPr/>
        </p:nvSpPr>
        <p:spPr>
          <a:xfrm>
            <a:off x="457200" y="1261872"/>
            <a:ext cx="8229600" cy="274320"/>
          </a:xfrm>
          <a:prstGeom prst="rect">
            <a:avLst/>
          </a:prstGeom>
          <a:noFill/>
          <a:ln/>
        </p:spPr>
        <p:txBody>
          <a:bodyPr wrap="square" lIns="0" tIns="0" rIns="0" bIns="0" rtlCol="0" anchor="ctr"/>
          <a:lstStyle/>
          <a:p>
            <a:pPr algn="ctr" indent="0" marL="0">
              <a:buNone/>
            </a:pPr>
            <a:r>
              <a:rPr lang="en-US" sz="1200" dirty="0">
                <a:solidFill>
                  <a:srgbClr val="7A9E9C"/>
                </a:solidFill>
                <a:latin typeface="Calibri" pitchFamily="34" charset="0"/>
                <a:ea typeface="Calibri" pitchFamily="34" charset="-122"/>
                <a:cs typeface="Calibri" pitchFamily="34" charset="-120"/>
              </a:rPr>
              <a:t>Chat WebSocket — Grupo 06</a:t>
            </a:r>
            <a:endParaRPr lang="en-US" sz="1200" dirty="0"/>
          </a:p>
        </p:txBody>
      </p:sp>
      <p:sp>
        <p:nvSpPr>
          <p:cNvPr id="9" name="Shape 7"/>
          <p:cNvSpPr/>
          <p:nvPr/>
        </p:nvSpPr>
        <p:spPr>
          <a:xfrm>
            <a:off x="457200" y="1664208"/>
            <a:ext cx="8229600" cy="713232"/>
          </a:xfrm>
          <a:prstGeom prst="roundRect">
            <a:avLst>
              <a:gd name="adj" fmla="val 12821"/>
            </a:avLst>
          </a:prstGeom>
          <a:solidFill>
            <a:srgbClr val="0F1A1A"/>
          </a:solidFill>
          <a:ln w="12700">
            <a:solidFill>
              <a:srgbClr val="00D4AA"/>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685800" y="1691640"/>
            <a:ext cx="3749040" cy="658368"/>
          </a:xfrm>
          <a:prstGeom prst="rect">
            <a:avLst/>
          </a:prstGeom>
          <a:noFill/>
          <a:ln/>
        </p:spPr>
        <p:txBody>
          <a:bodyPr wrap="square" lIns="0" tIns="0" rIns="0" bIns="0" rtlCol="0" anchor="ctr"/>
          <a:lstStyle/>
          <a:p>
            <a:pPr indent="0" marL="0">
              <a:buNone/>
            </a:pPr>
            <a:r>
              <a:rPr lang="en-US" sz="1250" b="1" dirty="0">
                <a:solidFill>
                  <a:srgbClr val="00D4AA"/>
                </a:solidFill>
                <a:latin typeface="Calibri" pitchFamily="34" charset="0"/>
                <a:ea typeface="Calibri" pitchFamily="34" charset="-122"/>
                <a:cs typeface="Calibri" pitchFamily="34" charset="-120"/>
              </a:rPr>
              <a:t>⚡  WebSockets permiten comunicación bidireccional persistente</a:t>
            </a:r>
            <a:endParaRPr lang="en-US" sz="1250" dirty="0"/>
          </a:p>
        </p:txBody>
      </p:sp>
      <p:sp>
        <p:nvSpPr>
          <p:cNvPr id="11" name="Text 9"/>
          <p:cNvSpPr/>
          <p:nvPr/>
        </p:nvSpPr>
        <p:spPr>
          <a:xfrm>
            <a:off x="4572000" y="1691640"/>
            <a:ext cx="3931920" cy="658368"/>
          </a:xfrm>
          <a:prstGeom prst="rect">
            <a:avLst/>
          </a:prstGeom>
          <a:noFill/>
          <a:ln/>
        </p:spPr>
        <p:txBody>
          <a:bodyPr wrap="square" lIns="0" tIns="0" rIns="0" bIns="0" rtlCol="0" anchor="ctr"/>
          <a:lstStyle/>
          <a:p>
            <a:pPr indent="0" marL="0">
              <a:buNone/>
            </a:pPr>
            <a:r>
              <a:rPr lang="en-US" sz="1100" dirty="0">
                <a:solidFill>
                  <a:srgbClr val="7A9E9C"/>
                </a:solidFill>
                <a:latin typeface="Calibri" pitchFamily="34" charset="0"/>
                <a:ea typeface="Calibri" pitchFamily="34" charset="-122"/>
                <a:cs typeface="Calibri" pitchFamily="34" charset="-120"/>
              </a:rPr>
              <a:t>El servidor notifica a todos los clientes al instante, sin que cada cliente esté constantemente preguntando.</a:t>
            </a:r>
            <a:endParaRPr lang="en-US" sz="1100" dirty="0"/>
          </a:p>
        </p:txBody>
      </p:sp>
      <p:sp>
        <p:nvSpPr>
          <p:cNvPr id="12" name="Shape 10"/>
          <p:cNvSpPr/>
          <p:nvPr/>
        </p:nvSpPr>
        <p:spPr>
          <a:xfrm>
            <a:off x="457200" y="2468880"/>
            <a:ext cx="8229600" cy="713232"/>
          </a:xfrm>
          <a:prstGeom prst="roundRect">
            <a:avLst>
              <a:gd name="adj" fmla="val 12821"/>
            </a:avLst>
          </a:prstGeom>
          <a:solidFill>
            <a:srgbClr val="0F1A1A"/>
          </a:solidFill>
          <a:ln w="12700">
            <a:solidFill>
              <a:srgbClr val="06D6A0"/>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685800" y="2496312"/>
            <a:ext cx="3749040" cy="658368"/>
          </a:xfrm>
          <a:prstGeom prst="rect">
            <a:avLst/>
          </a:prstGeom>
          <a:noFill/>
          <a:ln/>
        </p:spPr>
        <p:txBody>
          <a:bodyPr wrap="square" lIns="0" tIns="0" rIns="0" bIns="0" rtlCol="0" anchor="ctr"/>
          <a:lstStyle/>
          <a:p>
            <a:pPr indent="0" marL="0">
              <a:buNone/>
            </a:pPr>
            <a:r>
              <a:rPr lang="en-US" sz="1250" b="1" dirty="0">
                <a:solidFill>
                  <a:srgbClr val="06D6A0"/>
                </a:solidFill>
                <a:latin typeface="Calibri" pitchFamily="34" charset="0"/>
                <a:ea typeface="Calibri" pitchFamily="34" charset="-122"/>
                <a:cs typeface="Calibri" pitchFamily="34" charset="-120"/>
              </a:rPr>
              <a:t>🧩  NestJS estructura el backend con decoradores y módulos</a:t>
            </a:r>
            <a:endParaRPr lang="en-US" sz="1250" dirty="0"/>
          </a:p>
        </p:txBody>
      </p:sp>
      <p:sp>
        <p:nvSpPr>
          <p:cNvPr id="14" name="Text 12"/>
          <p:cNvSpPr/>
          <p:nvPr/>
        </p:nvSpPr>
        <p:spPr>
          <a:xfrm>
            <a:off x="4572000" y="2496312"/>
            <a:ext cx="3931920" cy="658368"/>
          </a:xfrm>
          <a:prstGeom prst="rect">
            <a:avLst/>
          </a:prstGeom>
          <a:noFill/>
          <a:ln/>
        </p:spPr>
        <p:txBody>
          <a:bodyPr wrap="square" lIns="0" tIns="0" rIns="0" bIns="0" rtlCol="0" anchor="ctr"/>
          <a:lstStyle/>
          <a:p>
            <a:pPr indent="0" marL="0">
              <a:buNone/>
            </a:pPr>
            <a:r>
              <a:rPr lang="en-US" sz="1100" dirty="0">
                <a:solidFill>
                  <a:srgbClr val="7A9E9C"/>
                </a:solidFill>
                <a:latin typeface="Calibri" pitchFamily="34" charset="0"/>
                <a:ea typeface="Calibri" pitchFamily="34" charset="-122"/>
                <a:cs typeface="Calibri" pitchFamily="34" charset="-120"/>
              </a:rPr>
              <a:t>@WebSocketGateway y @SubscribeMessage reemplazan @Get()/@Post() — la misma lógica modular, diferente protocolo.</a:t>
            </a:r>
            <a:endParaRPr lang="en-US" sz="1100" dirty="0"/>
          </a:p>
        </p:txBody>
      </p:sp>
      <p:sp>
        <p:nvSpPr>
          <p:cNvPr id="15" name="Shape 13"/>
          <p:cNvSpPr/>
          <p:nvPr/>
        </p:nvSpPr>
        <p:spPr>
          <a:xfrm>
            <a:off x="457200" y="3273552"/>
            <a:ext cx="8229600" cy="713232"/>
          </a:xfrm>
          <a:prstGeom prst="roundRect">
            <a:avLst>
              <a:gd name="adj" fmla="val 12821"/>
            </a:avLst>
          </a:prstGeom>
          <a:solidFill>
            <a:srgbClr val="0F1A1A"/>
          </a:solidFill>
          <a:ln w="12700">
            <a:solidFill>
              <a:srgbClr val="4A9FD4"/>
            </a:solidFill>
            <a:prstDash val="solid"/>
          </a:ln>
          <a:effectLst>
            <a:outerShdw sx="100000" sy="100000" kx="0" ky="0" algn="bl" rotWithShape="0" blurRad="101600" dist="38100" dir="2700000">
              <a:srgbClr val="000000">
                <a:alpha val="35000"/>
              </a:srgbClr>
            </a:outerShdw>
          </a:effectLst>
        </p:spPr>
      </p:sp>
      <p:sp>
        <p:nvSpPr>
          <p:cNvPr id="16" name="Text 14"/>
          <p:cNvSpPr/>
          <p:nvPr/>
        </p:nvSpPr>
        <p:spPr>
          <a:xfrm>
            <a:off x="685800" y="3300984"/>
            <a:ext cx="3749040" cy="658368"/>
          </a:xfrm>
          <a:prstGeom prst="rect">
            <a:avLst/>
          </a:prstGeom>
          <a:noFill/>
          <a:ln/>
        </p:spPr>
        <p:txBody>
          <a:bodyPr wrap="square" lIns="0" tIns="0" rIns="0" bIns="0" rtlCol="0" anchor="ctr"/>
          <a:lstStyle/>
          <a:p>
            <a:pPr indent="0" marL="0">
              <a:buNone/>
            </a:pPr>
            <a:r>
              <a:rPr lang="en-US" sz="1250" b="1" dirty="0">
                <a:solidFill>
                  <a:srgbClr val="4A9FD4"/>
                </a:solidFill>
                <a:latin typeface="Calibri" pitchFamily="34" charset="0"/>
                <a:ea typeface="Calibri" pitchFamily="34" charset="-122"/>
                <a:cs typeface="Calibri" pitchFamily="34" charset="-120"/>
              </a:rPr>
              <a:t>⚛️  React + useEffect + cleanup es el patrón correcto</a:t>
            </a:r>
            <a:endParaRPr lang="en-US" sz="1250" dirty="0"/>
          </a:p>
        </p:txBody>
      </p:sp>
      <p:sp>
        <p:nvSpPr>
          <p:cNvPr id="17" name="Text 15"/>
          <p:cNvSpPr/>
          <p:nvPr/>
        </p:nvSpPr>
        <p:spPr>
          <a:xfrm>
            <a:off x="4572000" y="3300984"/>
            <a:ext cx="3931920" cy="658368"/>
          </a:xfrm>
          <a:prstGeom prst="rect">
            <a:avLst/>
          </a:prstGeom>
          <a:noFill/>
          <a:ln/>
        </p:spPr>
        <p:txBody>
          <a:bodyPr wrap="square" lIns="0" tIns="0" rIns="0" bIns="0" rtlCol="0" anchor="ctr"/>
          <a:lstStyle/>
          <a:p>
            <a:pPr indent="0" marL="0">
              <a:buNone/>
            </a:pPr>
            <a:r>
              <a:rPr lang="en-US" sz="1100" dirty="0">
                <a:solidFill>
                  <a:srgbClr val="7A9E9C"/>
                </a:solidFill>
                <a:latin typeface="Calibri" pitchFamily="34" charset="0"/>
                <a:ea typeface="Calibri" pitchFamily="34" charset="-122"/>
                <a:cs typeface="Calibri" pitchFamily="34" charset="-120"/>
              </a:rPr>
              <a:t>socket.off() en el return de useEffect previene listeners duplicados y memory leaks al remontar componentes.</a:t>
            </a:r>
            <a:endParaRPr lang="en-US" sz="1100" dirty="0"/>
          </a:p>
        </p:txBody>
      </p:sp>
      <p:sp>
        <p:nvSpPr>
          <p:cNvPr id="18" name="Shape 16"/>
          <p:cNvSpPr/>
          <p:nvPr/>
        </p:nvSpPr>
        <p:spPr>
          <a:xfrm>
            <a:off x="457200" y="4078224"/>
            <a:ext cx="8229600" cy="713232"/>
          </a:xfrm>
          <a:prstGeom prst="roundRect">
            <a:avLst>
              <a:gd name="adj" fmla="val 12821"/>
            </a:avLst>
          </a:prstGeom>
          <a:solidFill>
            <a:srgbClr val="0F1A1A"/>
          </a:solidFill>
          <a:ln w="12700">
            <a:solidFill>
              <a:srgbClr val="9B72CF"/>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685800" y="4105656"/>
            <a:ext cx="3749040" cy="658368"/>
          </a:xfrm>
          <a:prstGeom prst="rect">
            <a:avLst/>
          </a:prstGeom>
          <a:noFill/>
          <a:ln/>
        </p:spPr>
        <p:txBody>
          <a:bodyPr wrap="square" lIns="0" tIns="0" rIns="0" bIns="0" rtlCol="0" anchor="ctr"/>
          <a:lstStyle/>
          <a:p>
            <a:pPr indent="0" marL="0">
              <a:buNone/>
            </a:pPr>
            <a:r>
              <a:rPr lang="en-US" sz="1250" b="1" dirty="0">
                <a:solidFill>
                  <a:srgbClr val="9B72CF"/>
                </a:solidFill>
                <a:latin typeface="Calibri" pitchFamily="34" charset="0"/>
                <a:ea typeface="Calibri" pitchFamily="34" charset="-122"/>
                <a:cs typeface="Calibri" pitchFamily="34" charset="-120"/>
              </a:rPr>
              <a:t>🔌  El Singleton garantiza una sola conexión WebSocket</a:t>
            </a:r>
            <a:endParaRPr lang="en-US" sz="1250" dirty="0"/>
          </a:p>
        </p:txBody>
      </p:sp>
      <p:sp>
        <p:nvSpPr>
          <p:cNvPr id="20" name="Text 18"/>
          <p:cNvSpPr/>
          <p:nvPr/>
        </p:nvSpPr>
        <p:spPr>
          <a:xfrm>
            <a:off x="4572000" y="4105656"/>
            <a:ext cx="3931920" cy="658368"/>
          </a:xfrm>
          <a:prstGeom prst="rect">
            <a:avLst/>
          </a:prstGeom>
          <a:noFill/>
          <a:ln/>
        </p:spPr>
        <p:txBody>
          <a:bodyPr wrap="square" lIns="0" tIns="0" rIns="0" bIns="0" rtlCol="0" anchor="ctr"/>
          <a:lstStyle/>
          <a:p>
            <a:pPr indent="0" marL="0">
              <a:buNone/>
            </a:pPr>
            <a:r>
              <a:rPr lang="en-US" sz="1100" dirty="0">
                <a:solidFill>
                  <a:srgbClr val="7A9E9C"/>
                </a:solidFill>
                <a:latin typeface="Calibri" pitchFamily="34" charset="0"/>
                <a:ea typeface="Calibri" pitchFamily="34" charset="-122"/>
                <a:cs typeface="Calibri" pitchFamily="34" charset="-120"/>
              </a:rPr>
              <a:t>socket.ts instancia la conexión una vez. Todos los componentes la comparten sin crear duplicados.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 WebSocket — Grupo 06</dc:title>
  <dc:subject>PptxGenJS Presentation</dc:subject>
  <dc:creator>PptxGenJS</dc:creator>
  <cp:lastModifiedBy>PptxGenJS</cp:lastModifiedBy>
  <cp:revision>1</cp:revision>
  <dcterms:created xsi:type="dcterms:W3CDTF">2026-06-27T02:05:34Z</dcterms:created>
  <dcterms:modified xsi:type="dcterms:W3CDTF">2026-06-27T02:05:34Z</dcterms:modified>
</cp:coreProperties>
</file>